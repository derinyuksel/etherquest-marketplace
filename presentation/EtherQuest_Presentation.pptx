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7CF6"/>
    <a:srgbClr val="8E91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7" d="100"/>
          <a:sy n="67" d="100"/>
        </p:scale>
        <p:origin x="22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2928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F"/>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8B7CF6"/>
          </a:solidFill>
          <a:ln/>
        </p:spPr>
        <p:txBody>
          <a:bodyPr/>
          <a:lstStyle/>
          <a:p>
            <a:endParaRPr lang="tr-TR"/>
          </a:p>
        </p:txBody>
      </p:sp>
      <p:sp>
        <p:nvSpPr>
          <p:cNvPr id="3" name="Shape 1"/>
          <p:cNvSpPr/>
          <p:nvPr/>
        </p:nvSpPr>
        <p:spPr>
          <a:xfrm>
            <a:off x="0" y="4754880"/>
            <a:ext cx="12188952" cy="36576"/>
          </a:xfrm>
          <a:prstGeom prst="rect">
            <a:avLst/>
          </a:prstGeom>
          <a:solidFill>
            <a:srgbClr val="2A3158"/>
          </a:solidFill>
          <a:ln/>
        </p:spPr>
        <p:txBody>
          <a:bodyPr/>
          <a:lstStyle/>
          <a:p>
            <a:endParaRPr lang="tr-TR"/>
          </a:p>
        </p:txBody>
      </p:sp>
      <p:sp>
        <p:nvSpPr>
          <p:cNvPr id="4" name="Text 2"/>
          <p:cNvSpPr/>
          <p:nvPr/>
        </p:nvSpPr>
        <p:spPr>
          <a:xfrm>
            <a:off x="822960" y="640080"/>
            <a:ext cx="10058400" cy="365760"/>
          </a:xfrm>
          <a:prstGeom prst="rect">
            <a:avLst/>
          </a:prstGeom>
          <a:noFill/>
          <a:ln/>
        </p:spPr>
        <p:txBody>
          <a:bodyPr wrap="square" lIns="0" tIns="0" rIns="0" bIns="0" rtlCol="0" anchor="ctr"/>
          <a:lstStyle/>
          <a:p>
            <a:pPr marL="0" indent="0">
              <a:buNone/>
            </a:pPr>
            <a:r>
              <a:rPr lang="en-US" sz="1100" b="1" kern="0" spc="400" dirty="0">
                <a:solidFill>
                  <a:srgbClr val="8B7CF6"/>
                </a:solidFill>
                <a:latin typeface="Calibri" pitchFamily="34" charset="0"/>
                <a:ea typeface="Calibri" pitchFamily="34" charset="-122"/>
                <a:cs typeface="Calibri" pitchFamily="34" charset="-120"/>
              </a:rPr>
              <a:t>FUNDAMENTALS OF BLOCKCHAIN  ·  PROJECT</a:t>
            </a:r>
            <a:endParaRPr lang="en-US" sz="1100" dirty="0"/>
          </a:p>
        </p:txBody>
      </p:sp>
      <p:sp>
        <p:nvSpPr>
          <p:cNvPr id="5" name="Text 3"/>
          <p:cNvSpPr/>
          <p:nvPr/>
        </p:nvSpPr>
        <p:spPr>
          <a:xfrm>
            <a:off x="822960" y="1143000"/>
            <a:ext cx="10058400" cy="914400"/>
          </a:xfrm>
          <a:prstGeom prst="rect">
            <a:avLst/>
          </a:prstGeom>
          <a:noFill/>
          <a:ln/>
        </p:spPr>
        <p:txBody>
          <a:bodyPr wrap="square" lIns="0" tIns="0" rIns="0" bIns="0" rtlCol="0" anchor="ctr"/>
          <a:lstStyle/>
          <a:p>
            <a:pPr marL="0" indent="0">
              <a:buNone/>
            </a:pPr>
            <a:r>
              <a:rPr lang="en-US" sz="6400" b="1" dirty="0">
                <a:solidFill>
                  <a:srgbClr val="EDEEF7"/>
                </a:solidFill>
                <a:latin typeface="Georgia" pitchFamily="34" charset="0"/>
                <a:ea typeface="Georgia" pitchFamily="34" charset="-122"/>
                <a:cs typeface="Georgia" pitchFamily="34" charset="-120"/>
              </a:rPr>
              <a:t>EtherQuest</a:t>
            </a:r>
            <a:endParaRPr lang="en-US" sz="6400" dirty="0"/>
          </a:p>
        </p:txBody>
      </p:sp>
      <p:sp>
        <p:nvSpPr>
          <p:cNvPr id="6" name="Text 4"/>
          <p:cNvSpPr/>
          <p:nvPr/>
        </p:nvSpPr>
        <p:spPr>
          <a:xfrm>
            <a:off x="822960" y="2057400"/>
            <a:ext cx="10058400" cy="640080"/>
          </a:xfrm>
          <a:prstGeom prst="rect">
            <a:avLst/>
          </a:prstGeom>
          <a:noFill/>
          <a:ln/>
        </p:spPr>
        <p:txBody>
          <a:bodyPr wrap="square" lIns="0" tIns="0" rIns="0" bIns="0" rtlCol="0" anchor="ctr"/>
          <a:lstStyle/>
          <a:p>
            <a:pPr marL="0" indent="0">
              <a:buNone/>
            </a:pPr>
            <a:r>
              <a:rPr lang="en-US" sz="2600" i="1" dirty="0">
                <a:solidFill>
                  <a:srgbClr val="A8AEC9"/>
                </a:solidFill>
                <a:latin typeface="Georgia" pitchFamily="34" charset="0"/>
                <a:ea typeface="Georgia" pitchFamily="34" charset="-122"/>
                <a:cs typeface="Georgia" pitchFamily="34" charset="-120"/>
              </a:rPr>
              <a:t>Blockchain-Based Item Ownership for Fantasy RPGs</a:t>
            </a:r>
            <a:endParaRPr lang="en-US" sz="2600" dirty="0"/>
          </a:p>
        </p:txBody>
      </p:sp>
      <p:sp>
        <p:nvSpPr>
          <p:cNvPr id="7" name="Shape 5"/>
          <p:cNvSpPr/>
          <p:nvPr/>
        </p:nvSpPr>
        <p:spPr>
          <a:xfrm>
            <a:off x="822960" y="3108960"/>
            <a:ext cx="45720" cy="1280160"/>
          </a:xfrm>
          <a:prstGeom prst="rect">
            <a:avLst/>
          </a:prstGeom>
          <a:solidFill>
            <a:srgbClr val="F4A261"/>
          </a:solidFill>
          <a:ln/>
        </p:spPr>
        <p:txBody>
          <a:bodyPr/>
          <a:lstStyle/>
          <a:p>
            <a:endParaRPr lang="tr-TR"/>
          </a:p>
        </p:txBody>
      </p:sp>
      <p:sp>
        <p:nvSpPr>
          <p:cNvPr id="8" name="Text 6"/>
          <p:cNvSpPr/>
          <p:nvPr/>
        </p:nvSpPr>
        <p:spPr>
          <a:xfrm>
            <a:off x="1051560" y="3108960"/>
            <a:ext cx="9144000" cy="1280160"/>
          </a:xfrm>
          <a:prstGeom prst="rect">
            <a:avLst/>
          </a:prstGeom>
          <a:noFill/>
          <a:ln/>
        </p:spPr>
        <p:txBody>
          <a:bodyPr wrap="square" lIns="0" tIns="0" rIns="0" bIns="0" rtlCol="0" anchor="t"/>
          <a:lstStyle/>
          <a:p>
            <a:pPr marL="0" indent="0">
              <a:buNone/>
            </a:pPr>
            <a:r>
              <a:rPr lang="tr-TR" sz="2200" i="1" dirty="0">
                <a:solidFill>
                  <a:srgbClr val="EDEEF7"/>
                </a:solidFill>
                <a:latin typeface="Georgia" pitchFamily="34" charset="0"/>
                <a:ea typeface="Georgia" pitchFamily="34" charset="-122"/>
                <a:cs typeface="Georgia" pitchFamily="34" charset="-120"/>
              </a:rPr>
              <a:t>Y</a:t>
            </a:r>
            <a:r>
              <a:rPr lang="en-US" sz="2200" i="1" dirty="0">
                <a:solidFill>
                  <a:srgbClr val="EDEEF7"/>
                </a:solidFill>
                <a:latin typeface="Georgia" pitchFamily="34" charset="0"/>
                <a:ea typeface="Georgia" pitchFamily="34" charset="-122"/>
                <a:cs typeface="Georgia" pitchFamily="34" charset="-120"/>
              </a:rPr>
              <a:t>our game items belong to you forever —
</a:t>
            </a:r>
            <a:r>
              <a:rPr lang="en-US" sz="2200" b="1" i="1" dirty="0">
                <a:solidFill>
                  <a:srgbClr val="F4A261"/>
                </a:solidFill>
                <a:latin typeface="Georgia" pitchFamily="34" charset="0"/>
                <a:ea typeface="Georgia" pitchFamily="34" charset="-122"/>
                <a:cs typeface="Georgia" pitchFamily="34" charset="-120"/>
              </a:rPr>
              <a:t>not the game company</a:t>
            </a:r>
            <a:endParaRPr lang="en-US" sz="2200" dirty="0"/>
          </a:p>
        </p:txBody>
      </p:sp>
      <p:sp>
        <p:nvSpPr>
          <p:cNvPr id="9" name="Text 7"/>
          <p:cNvSpPr/>
          <p:nvPr/>
        </p:nvSpPr>
        <p:spPr>
          <a:xfrm>
            <a:off x="822960" y="5120640"/>
            <a:ext cx="5486400" cy="411480"/>
          </a:xfrm>
          <a:prstGeom prst="rect">
            <a:avLst/>
          </a:prstGeom>
          <a:noFill/>
          <a:ln/>
        </p:spPr>
        <p:txBody>
          <a:bodyPr wrap="square" lIns="0" tIns="0" rIns="0" bIns="0" rtlCol="0" anchor="ctr"/>
          <a:lstStyle/>
          <a:p>
            <a:pPr marL="0" indent="0">
              <a:buNone/>
            </a:pPr>
            <a:r>
              <a:rPr lang="en-US" sz="2000" b="1" dirty="0">
                <a:solidFill>
                  <a:srgbClr val="EDEEF7"/>
                </a:solidFill>
                <a:latin typeface="Georgia" pitchFamily="34" charset="0"/>
                <a:ea typeface="Georgia" pitchFamily="34" charset="-122"/>
                <a:cs typeface="Georgia" pitchFamily="34" charset="-120"/>
              </a:rPr>
              <a:t>Derin Yüksel</a:t>
            </a:r>
            <a:endParaRPr lang="en-US" sz="2000" dirty="0"/>
          </a:p>
        </p:txBody>
      </p:sp>
      <p:sp>
        <p:nvSpPr>
          <p:cNvPr id="10" name="Text 8"/>
          <p:cNvSpPr/>
          <p:nvPr/>
        </p:nvSpPr>
        <p:spPr>
          <a:xfrm>
            <a:off x="822960" y="5532120"/>
            <a:ext cx="5486400" cy="365760"/>
          </a:xfrm>
          <a:prstGeom prst="rect">
            <a:avLst/>
          </a:prstGeom>
          <a:noFill/>
          <a:ln/>
        </p:spPr>
        <p:txBody>
          <a:bodyPr wrap="square" lIns="0" tIns="0" rIns="0" bIns="0" rtlCol="0" anchor="ctr"/>
          <a:lstStyle/>
          <a:p>
            <a:pPr marL="0" indent="0">
              <a:buNone/>
            </a:pPr>
            <a:r>
              <a:rPr lang="en-US" sz="1300" dirty="0">
                <a:solidFill>
                  <a:srgbClr val="A8AEC9"/>
                </a:solidFill>
                <a:latin typeface="Calibri" pitchFamily="34" charset="0"/>
                <a:ea typeface="Calibri" pitchFamily="34" charset="-122"/>
                <a:cs typeface="Calibri" pitchFamily="34" charset="-120"/>
              </a:rPr>
              <a:t>Fundamentals of Blockchain  ·  April 2026</a:t>
            </a:r>
            <a:endParaRPr lang="en-US" sz="1300" dirty="0"/>
          </a:p>
        </p:txBody>
      </p:sp>
      <p:sp>
        <p:nvSpPr>
          <p:cNvPr id="11" name="Text 9"/>
          <p:cNvSpPr/>
          <p:nvPr/>
        </p:nvSpPr>
        <p:spPr>
          <a:xfrm>
            <a:off x="822960" y="5897880"/>
            <a:ext cx="7315200" cy="320040"/>
          </a:xfrm>
          <a:prstGeom prst="rect">
            <a:avLst/>
          </a:prstGeom>
          <a:noFill/>
          <a:ln/>
        </p:spPr>
        <p:txBody>
          <a:bodyPr wrap="square" lIns="0" tIns="0" rIns="0" bIns="0" rtlCol="0" anchor="ctr"/>
          <a:lstStyle/>
          <a:p>
            <a:pPr marL="0" indent="0">
              <a:buNone/>
            </a:pPr>
            <a:r>
              <a:rPr lang="en-US" sz="1100" i="1" dirty="0">
                <a:solidFill>
                  <a:srgbClr val="6B7295"/>
                </a:solidFill>
                <a:latin typeface="Calibri" pitchFamily="34" charset="0"/>
                <a:ea typeface="Calibri" pitchFamily="34" charset="-122"/>
                <a:cs typeface="Calibri" pitchFamily="34" charset="-120"/>
              </a:rPr>
              <a:t>Solidity  ·  Remix IDE  ·  Sepolia Testnet  ·  MetaMask</a:t>
            </a:r>
            <a:endParaRPr lang="en-US" sz="1100" dirty="0"/>
          </a:p>
        </p:txBody>
      </p:sp>
      <p:sp>
        <p:nvSpPr>
          <p:cNvPr id="12" name="Shape 10"/>
          <p:cNvSpPr/>
          <p:nvPr/>
        </p:nvSpPr>
        <p:spPr>
          <a:xfrm>
            <a:off x="9509760" y="5074920"/>
            <a:ext cx="1828800" cy="1280160"/>
          </a:xfrm>
          <a:prstGeom prst="roundRect">
            <a:avLst>
              <a:gd name="adj" fmla="val 10714"/>
            </a:avLst>
          </a:prstGeom>
          <a:solidFill>
            <a:srgbClr val="8B7CF6"/>
          </a:solidFill>
          <a:ln/>
        </p:spPr>
        <p:txBody>
          <a:bodyPr/>
          <a:lstStyle/>
          <a:p>
            <a:endParaRPr lang="tr-TR"/>
          </a:p>
        </p:txBody>
      </p:sp>
      <p:sp>
        <p:nvSpPr>
          <p:cNvPr id="13" name="Text 11"/>
          <p:cNvSpPr/>
          <p:nvPr/>
        </p:nvSpPr>
        <p:spPr>
          <a:xfrm>
            <a:off x="9509760" y="5074920"/>
            <a:ext cx="1828800" cy="1280160"/>
          </a:xfrm>
          <a:prstGeom prst="rect">
            <a:avLst/>
          </a:prstGeom>
          <a:noFill/>
          <a:ln/>
        </p:spPr>
        <p:txBody>
          <a:bodyPr wrap="square" lIns="0" tIns="0" rIns="0" bIns="0" rtlCol="0" anchor="ctr"/>
          <a:lstStyle/>
          <a:p>
            <a:pPr marL="0" indent="0" algn="ctr">
              <a:buNone/>
            </a:pPr>
            <a:r>
              <a:rPr lang="en-US" sz="5600" b="1" dirty="0">
                <a:solidFill>
                  <a:srgbClr val="EDEEF7"/>
                </a:solidFill>
                <a:latin typeface="Georgia" pitchFamily="34" charset="0"/>
                <a:ea typeface="Georgia" pitchFamily="34" charset="-122"/>
                <a:cs typeface="Georgia" pitchFamily="34" charset="-120"/>
              </a:rPr>
              <a:t>EQ</a:t>
            </a:r>
            <a:endParaRPr lang="en-US" sz="5600" dirty="0"/>
          </a:p>
        </p:txBody>
      </p:sp>
      <p:sp>
        <p:nvSpPr>
          <p:cNvPr id="14" name="Text 12"/>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6B7295"/>
                </a:solidFill>
                <a:latin typeface="Calibri" pitchFamily="34" charset="0"/>
                <a:ea typeface="Calibri" pitchFamily="34" charset="-122"/>
                <a:cs typeface="Calibri" pitchFamily="34" charset="-120"/>
              </a:rPr>
              <a:t>EtherQuest Marketplace</a:t>
            </a:r>
            <a:r>
              <a:rPr lang="en-US" sz="900" dirty="0">
                <a:solidFill>
                  <a:srgbClr val="6B7295"/>
                </a:solidFill>
              </a:rPr>
              <a:t>   |   </a:t>
            </a:r>
            <a:r>
              <a:rPr lang="en-US" sz="900" dirty="0">
                <a:solidFill>
                  <a:srgbClr val="6B7295"/>
                </a:solidFill>
                <a:latin typeface="Consolas" pitchFamily="34" charset="0"/>
                <a:ea typeface="Consolas" pitchFamily="34" charset="-122"/>
                <a:cs typeface="Consolas" pitchFamily="34" charset="-120"/>
              </a:rPr>
              <a:t>Sepolia: 0xEd3B...0dDa</a:t>
            </a:r>
            <a:endParaRPr lang="en-US" sz="900" dirty="0"/>
          </a:p>
        </p:txBody>
      </p:sp>
      <p:sp>
        <p:nvSpPr>
          <p:cNvPr id="15" name="Text 13"/>
          <p:cNvSpPr/>
          <p:nvPr/>
        </p:nvSpPr>
        <p:spPr>
          <a:xfrm>
            <a:off x="11091672" y="6492240"/>
            <a:ext cx="640080" cy="274320"/>
          </a:xfrm>
          <a:prstGeom prst="rect">
            <a:avLst/>
          </a:prstGeom>
          <a:noFill/>
          <a:ln/>
        </p:spPr>
        <p:txBody>
          <a:bodyPr wrap="square" lIns="0" tIns="0" rIns="0" bIns="0" rtlCol="0" anchor="ctr"/>
          <a:lstStyle/>
          <a:p>
            <a:pPr marL="0" indent="0" algn="r">
              <a:buNone/>
            </a:pPr>
            <a:r>
              <a:rPr lang="en-US" sz="900" dirty="0">
                <a:solidFill>
                  <a:srgbClr val="6B7295"/>
                </a:solidFill>
                <a:latin typeface="Calibri" pitchFamily="34" charset="0"/>
                <a:ea typeface="Calibri" pitchFamily="34" charset="-122"/>
                <a:cs typeface="Calibri" pitchFamily="34" charset="-120"/>
              </a:rPr>
              <a:t>1 / 9</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marL="0" indent="0">
              <a:buNone/>
            </a:pPr>
            <a:r>
              <a:rPr lang="en-US" sz="3600" b="1" dirty="0">
                <a:solidFill>
                  <a:srgbClr val="EDEEF7"/>
                </a:solidFill>
                <a:latin typeface="Georgia" pitchFamily="34" charset="0"/>
                <a:ea typeface="Georgia" pitchFamily="34" charset="-122"/>
                <a:cs typeface="Georgia" pitchFamily="34" charset="-120"/>
              </a:rPr>
              <a:t>The Problem</a:t>
            </a:r>
            <a:r>
              <a:rPr lang="tr-TR" sz="3600" b="1" dirty="0">
                <a:solidFill>
                  <a:srgbClr val="EDEEF7"/>
                </a:solidFill>
                <a:latin typeface="Georgia" pitchFamily="34" charset="0"/>
                <a:ea typeface="Georgia" pitchFamily="34" charset="-122"/>
                <a:cs typeface="Georgia" pitchFamily="34" charset="-120"/>
              </a:rPr>
              <a:t> Definition</a:t>
            </a:r>
            <a:endParaRPr lang="en-US" sz="3600" dirty="0"/>
          </a:p>
        </p:txBody>
      </p:sp>
      <p:sp>
        <p:nvSpPr>
          <p:cNvPr id="3" name="Text 1"/>
          <p:cNvSpPr/>
          <p:nvPr/>
        </p:nvSpPr>
        <p:spPr>
          <a:xfrm>
            <a:off x="548640" y="914400"/>
            <a:ext cx="9144000" cy="365760"/>
          </a:xfrm>
          <a:prstGeom prst="rect">
            <a:avLst/>
          </a:prstGeom>
          <a:noFill/>
          <a:ln/>
        </p:spPr>
        <p:txBody>
          <a:bodyPr wrap="square" lIns="0" tIns="0" rIns="0" bIns="0" rtlCol="0" anchor="ctr"/>
          <a:lstStyle/>
          <a:p>
            <a:pPr marL="0" indent="0">
              <a:buNone/>
            </a:pPr>
            <a:r>
              <a:rPr lang="en-US" sz="1600" i="1" dirty="0">
                <a:solidFill>
                  <a:srgbClr val="A8AEC9"/>
                </a:solidFill>
                <a:latin typeface="Calibri" pitchFamily="34" charset="0"/>
                <a:ea typeface="Calibri" pitchFamily="34" charset="-122"/>
                <a:cs typeface="Calibri" pitchFamily="34" charset="-120"/>
              </a:rPr>
              <a:t>Why current game-item ownership is broken</a:t>
            </a:r>
            <a:endParaRPr lang="en-US" sz="1600" dirty="0"/>
          </a:p>
        </p:txBody>
      </p:sp>
      <p:sp>
        <p:nvSpPr>
          <p:cNvPr id="4" name="Shape 2"/>
          <p:cNvSpPr/>
          <p:nvPr/>
        </p:nvSpPr>
        <p:spPr>
          <a:xfrm>
            <a:off x="448056" y="1691640"/>
            <a:ext cx="3611880" cy="3657600"/>
          </a:xfrm>
          <a:prstGeom prst="roundRect">
            <a:avLst>
              <a:gd name="adj" fmla="val 2532"/>
            </a:avLst>
          </a:prstGeom>
          <a:solidFill>
            <a:srgbClr val="151A33"/>
          </a:solidFill>
          <a:ln w="12700">
            <a:solidFill>
              <a:srgbClr val="2A3158"/>
            </a:solidFill>
            <a:prstDash val="solid"/>
          </a:ln>
        </p:spPr>
        <p:txBody>
          <a:bodyPr/>
          <a:lstStyle/>
          <a:p>
            <a:endParaRPr lang="tr-TR"/>
          </a:p>
        </p:txBody>
      </p:sp>
      <p:sp>
        <p:nvSpPr>
          <p:cNvPr id="5" name="Shape 3"/>
          <p:cNvSpPr/>
          <p:nvPr/>
        </p:nvSpPr>
        <p:spPr>
          <a:xfrm>
            <a:off x="722376" y="2057400"/>
            <a:ext cx="365760" cy="45720"/>
          </a:xfrm>
          <a:prstGeom prst="rect">
            <a:avLst/>
          </a:prstGeom>
          <a:solidFill>
            <a:srgbClr val="F4A261"/>
          </a:solidFill>
          <a:ln/>
        </p:spPr>
        <p:txBody>
          <a:bodyPr/>
          <a:lstStyle/>
          <a:p>
            <a:endParaRPr lang="tr-TR"/>
          </a:p>
        </p:txBody>
      </p:sp>
      <p:sp>
        <p:nvSpPr>
          <p:cNvPr id="6" name="Text 4"/>
          <p:cNvSpPr/>
          <p:nvPr/>
        </p:nvSpPr>
        <p:spPr>
          <a:xfrm>
            <a:off x="722376" y="2194560"/>
            <a:ext cx="914400" cy="457200"/>
          </a:xfrm>
          <a:prstGeom prst="rect">
            <a:avLst/>
          </a:prstGeom>
          <a:noFill/>
          <a:ln/>
        </p:spPr>
        <p:txBody>
          <a:bodyPr wrap="square" lIns="0" tIns="0" rIns="0" bIns="0" rtlCol="0" anchor="ctr"/>
          <a:lstStyle/>
          <a:p>
            <a:pPr marL="0" indent="0">
              <a:buNone/>
            </a:pPr>
            <a:r>
              <a:rPr lang="en-US" sz="2600" b="1" i="1" dirty="0">
                <a:solidFill>
                  <a:srgbClr val="F4A261"/>
                </a:solidFill>
                <a:latin typeface="Georgia" pitchFamily="34" charset="0"/>
                <a:ea typeface="Georgia" pitchFamily="34" charset="-122"/>
                <a:cs typeface="Georgia" pitchFamily="34" charset="-120"/>
              </a:rPr>
              <a:t>01</a:t>
            </a:r>
            <a:endParaRPr lang="en-US" sz="2600" dirty="0"/>
          </a:p>
        </p:txBody>
      </p:sp>
      <p:pic>
        <p:nvPicPr>
          <p:cNvPr id="7" name="Image 0" descr="preencoded.png"/>
          <p:cNvPicPr>
            <a:picLocks noChangeAspect="1"/>
          </p:cNvPicPr>
          <p:nvPr/>
        </p:nvPicPr>
        <p:blipFill>
          <a:blip r:embed="rId3"/>
          <a:stretch>
            <a:fillRect/>
          </a:stretch>
        </p:blipFill>
        <p:spPr>
          <a:xfrm>
            <a:off x="3054096" y="2103120"/>
            <a:ext cx="640080" cy="640080"/>
          </a:xfrm>
          <a:prstGeom prst="rect">
            <a:avLst/>
          </a:prstGeom>
        </p:spPr>
      </p:pic>
      <p:sp>
        <p:nvSpPr>
          <p:cNvPr id="8" name="Text 5"/>
          <p:cNvSpPr/>
          <p:nvPr/>
        </p:nvSpPr>
        <p:spPr>
          <a:xfrm>
            <a:off x="722376" y="2971800"/>
            <a:ext cx="3063240" cy="640080"/>
          </a:xfrm>
          <a:prstGeom prst="rect">
            <a:avLst/>
          </a:prstGeom>
          <a:noFill/>
          <a:ln/>
        </p:spPr>
        <p:txBody>
          <a:bodyPr wrap="square" lIns="0" tIns="0" rIns="0" bIns="0" rtlCol="0" anchor="t"/>
          <a:lstStyle/>
          <a:p>
            <a:pPr marL="0" indent="0">
              <a:buNone/>
            </a:pPr>
            <a:r>
              <a:rPr lang="en-US" sz="1800" b="1" dirty="0">
                <a:solidFill>
                  <a:srgbClr val="EDEEF7"/>
                </a:solidFill>
                <a:latin typeface="Georgia" pitchFamily="34" charset="0"/>
                <a:ea typeface="Georgia" pitchFamily="34" charset="-122"/>
                <a:cs typeface="Georgia" pitchFamily="34" charset="-120"/>
              </a:rPr>
              <a:t>Game </a:t>
            </a:r>
            <a:r>
              <a:rPr lang="tr-TR" sz="1800" b="1" dirty="0" err="1">
                <a:solidFill>
                  <a:srgbClr val="EDEEF7"/>
                </a:solidFill>
                <a:latin typeface="Georgia" pitchFamily="34" charset="0"/>
                <a:ea typeface="Georgia" pitchFamily="34" charset="-122"/>
                <a:cs typeface="Georgia" pitchFamily="34" charset="-120"/>
              </a:rPr>
              <a:t>Owns</a:t>
            </a:r>
            <a:r>
              <a:rPr lang="tr-TR" sz="1800" b="1" dirty="0">
                <a:solidFill>
                  <a:srgbClr val="EDEEF7"/>
                </a:solidFill>
                <a:latin typeface="Georgia" pitchFamily="34" charset="0"/>
                <a:ea typeface="Georgia" pitchFamily="34" charset="-122"/>
                <a:cs typeface="Georgia" pitchFamily="34" charset="-120"/>
              </a:rPr>
              <a:t> </a:t>
            </a:r>
            <a:r>
              <a:rPr lang="en-US" sz="1800" b="1" dirty="0">
                <a:solidFill>
                  <a:srgbClr val="EDEEF7"/>
                </a:solidFill>
                <a:latin typeface="Georgia" pitchFamily="34" charset="0"/>
                <a:ea typeface="Georgia" pitchFamily="34" charset="-122"/>
                <a:cs typeface="Georgia" pitchFamily="34" charset="-120"/>
              </a:rPr>
              <a:t>Everything</a:t>
            </a:r>
            <a:endParaRPr lang="en-US" sz="1800" dirty="0"/>
          </a:p>
        </p:txBody>
      </p:sp>
      <p:sp>
        <p:nvSpPr>
          <p:cNvPr id="9" name="Text 6"/>
          <p:cNvSpPr/>
          <p:nvPr/>
        </p:nvSpPr>
        <p:spPr>
          <a:xfrm>
            <a:off x="692912" y="3680460"/>
            <a:ext cx="3063240" cy="1325880"/>
          </a:xfrm>
          <a:prstGeom prst="rect">
            <a:avLst/>
          </a:prstGeom>
          <a:noFill/>
          <a:ln/>
        </p:spPr>
        <p:txBody>
          <a:bodyPr wrap="square" lIns="0" tIns="0" rIns="0" bIns="0" rtlCol="0" anchor="t"/>
          <a:lstStyle/>
          <a:p>
            <a:pPr>
              <a:spcAft>
                <a:spcPts val="400"/>
              </a:spcAft>
            </a:pPr>
            <a:r>
              <a:rPr lang="en-US" sz="1200" dirty="0">
                <a:solidFill>
                  <a:schemeClr val="accent3"/>
                </a:solidFill>
              </a:rPr>
              <a:t>When </a:t>
            </a:r>
            <a:r>
              <a:rPr lang="en-US" sz="1200" dirty="0" err="1">
                <a:solidFill>
                  <a:schemeClr val="accent3"/>
                </a:solidFill>
              </a:rPr>
              <a:t>EtherQuest's</a:t>
            </a:r>
            <a:r>
              <a:rPr lang="en-US" sz="1200" dirty="0">
                <a:solidFill>
                  <a:schemeClr val="accent3"/>
                </a:solidFill>
              </a:rPr>
              <a:t> servers go dark, the items still exist on-chain. A community fork, a sequel, or any compatible client can read them and honor the same stats. Even with no successor, the item remains tradeable on secondary markets — the value doesn't reset to zero overnight.</a:t>
            </a:r>
          </a:p>
        </p:txBody>
      </p:sp>
      <p:sp>
        <p:nvSpPr>
          <p:cNvPr id="10" name="Shape 7"/>
          <p:cNvSpPr/>
          <p:nvPr/>
        </p:nvSpPr>
        <p:spPr>
          <a:xfrm>
            <a:off x="4288536" y="1691640"/>
            <a:ext cx="3611880" cy="3657600"/>
          </a:xfrm>
          <a:prstGeom prst="roundRect">
            <a:avLst>
              <a:gd name="adj" fmla="val 2532"/>
            </a:avLst>
          </a:prstGeom>
          <a:solidFill>
            <a:srgbClr val="151A33"/>
          </a:solidFill>
          <a:ln w="12700">
            <a:solidFill>
              <a:srgbClr val="2A3158"/>
            </a:solidFill>
            <a:prstDash val="solid"/>
          </a:ln>
        </p:spPr>
        <p:txBody>
          <a:bodyPr/>
          <a:lstStyle/>
          <a:p>
            <a:endParaRPr lang="tr-TR"/>
          </a:p>
        </p:txBody>
      </p:sp>
      <p:sp>
        <p:nvSpPr>
          <p:cNvPr id="11" name="Shape 8"/>
          <p:cNvSpPr/>
          <p:nvPr/>
        </p:nvSpPr>
        <p:spPr>
          <a:xfrm>
            <a:off x="4562856" y="2057400"/>
            <a:ext cx="365760" cy="45720"/>
          </a:xfrm>
          <a:prstGeom prst="rect">
            <a:avLst/>
          </a:prstGeom>
          <a:solidFill>
            <a:srgbClr val="F4A261"/>
          </a:solidFill>
          <a:ln/>
        </p:spPr>
        <p:txBody>
          <a:bodyPr/>
          <a:lstStyle/>
          <a:p>
            <a:endParaRPr lang="tr-TR"/>
          </a:p>
        </p:txBody>
      </p:sp>
      <p:sp>
        <p:nvSpPr>
          <p:cNvPr id="12" name="Text 9"/>
          <p:cNvSpPr/>
          <p:nvPr/>
        </p:nvSpPr>
        <p:spPr>
          <a:xfrm>
            <a:off x="4562856" y="2194560"/>
            <a:ext cx="914400" cy="457200"/>
          </a:xfrm>
          <a:prstGeom prst="rect">
            <a:avLst/>
          </a:prstGeom>
          <a:noFill/>
          <a:ln/>
        </p:spPr>
        <p:txBody>
          <a:bodyPr wrap="square" lIns="0" tIns="0" rIns="0" bIns="0" rtlCol="0" anchor="ctr"/>
          <a:lstStyle/>
          <a:p>
            <a:pPr marL="0" indent="0">
              <a:buNone/>
            </a:pPr>
            <a:r>
              <a:rPr lang="en-US" sz="2600" b="1" i="1" dirty="0">
                <a:solidFill>
                  <a:srgbClr val="F4A261"/>
                </a:solidFill>
                <a:latin typeface="Georgia" pitchFamily="34" charset="0"/>
                <a:ea typeface="Georgia" pitchFamily="34" charset="-122"/>
                <a:cs typeface="Georgia" pitchFamily="34" charset="-120"/>
              </a:rPr>
              <a:t>02</a:t>
            </a:r>
            <a:endParaRPr lang="en-US" sz="2600" dirty="0"/>
          </a:p>
        </p:txBody>
      </p:sp>
      <p:pic>
        <p:nvPicPr>
          <p:cNvPr id="13" name="Image 1" descr="preencoded.png"/>
          <p:cNvPicPr>
            <a:picLocks noChangeAspect="1"/>
          </p:cNvPicPr>
          <p:nvPr/>
        </p:nvPicPr>
        <p:blipFill>
          <a:blip r:embed="rId4"/>
          <a:stretch>
            <a:fillRect/>
          </a:stretch>
        </p:blipFill>
        <p:spPr>
          <a:xfrm>
            <a:off x="6894576" y="2103120"/>
            <a:ext cx="640080" cy="640080"/>
          </a:xfrm>
          <a:prstGeom prst="rect">
            <a:avLst/>
          </a:prstGeom>
        </p:spPr>
      </p:pic>
      <p:sp>
        <p:nvSpPr>
          <p:cNvPr id="14" name="Text 10"/>
          <p:cNvSpPr/>
          <p:nvPr/>
        </p:nvSpPr>
        <p:spPr>
          <a:xfrm>
            <a:off x="4562856" y="2971800"/>
            <a:ext cx="3063240" cy="868680"/>
          </a:xfrm>
          <a:prstGeom prst="rect">
            <a:avLst/>
          </a:prstGeom>
          <a:noFill/>
          <a:ln/>
        </p:spPr>
        <p:txBody>
          <a:bodyPr wrap="square" lIns="0" tIns="0" rIns="0" bIns="0" rtlCol="0" anchor="t"/>
          <a:lstStyle/>
          <a:p>
            <a:pPr marL="0" indent="0">
              <a:buNone/>
            </a:pPr>
            <a:r>
              <a:rPr lang="en-US" sz="1800" b="1" dirty="0">
                <a:solidFill>
                  <a:srgbClr val="EDEEF7"/>
                </a:solidFill>
                <a:latin typeface="Georgia" pitchFamily="34" charset="0"/>
                <a:ea typeface="Georgia" pitchFamily="34" charset="-122"/>
                <a:cs typeface="Georgia" pitchFamily="34" charset="-120"/>
              </a:rPr>
              <a:t>Account Bans = Total Loss</a:t>
            </a:r>
            <a:endParaRPr lang="en-US" sz="1800" dirty="0"/>
          </a:p>
        </p:txBody>
      </p:sp>
      <p:sp>
        <p:nvSpPr>
          <p:cNvPr id="15" name="Text 11"/>
          <p:cNvSpPr/>
          <p:nvPr/>
        </p:nvSpPr>
        <p:spPr>
          <a:xfrm>
            <a:off x="4562856" y="3680460"/>
            <a:ext cx="3063240" cy="1325880"/>
          </a:xfrm>
          <a:prstGeom prst="rect">
            <a:avLst/>
          </a:prstGeom>
          <a:noFill/>
          <a:ln/>
        </p:spPr>
        <p:txBody>
          <a:bodyPr wrap="square" lIns="0" tIns="0" rIns="0" bIns="0" rtlCol="0" anchor="t"/>
          <a:lstStyle/>
          <a:p>
            <a:pPr>
              <a:spcAft>
                <a:spcPts val="400"/>
              </a:spcAft>
            </a:pPr>
            <a:r>
              <a:rPr lang="en-US" sz="1200" dirty="0">
                <a:solidFill>
                  <a:schemeClr val="accent3"/>
                </a:solidFill>
              </a:rPr>
              <a:t>A banned account loses access to the game, but the wallet still holds the items. The player can sell them on the open market to active players and recover most of the spend. In the current system a ban zeros your inventory; on-chain, a ban becomes a forced sale, not a wipe.</a:t>
            </a:r>
          </a:p>
        </p:txBody>
      </p:sp>
      <p:sp>
        <p:nvSpPr>
          <p:cNvPr id="16" name="Shape 12"/>
          <p:cNvSpPr/>
          <p:nvPr/>
        </p:nvSpPr>
        <p:spPr>
          <a:xfrm>
            <a:off x="8129016" y="1691640"/>
            <a:ext cx="3611880" cy="3657600"/>
          </a:xfrm>
          <a:prstGeom prst="roundRect">
            <a:avLst>
              <a:gd name="adj" fmla="val 2532"/>
            </a:avLst>
          </a:prstGeom>
          <a:solidFill>
            <a:srgbClr val="151A33"/>
          </a:solidFill>
          <a:ln w="12700">
            <a:solidFill>
              <a:srgbClr val="2A3158"/>
            </a:solidFill>
            <a:prstDash val="solid"/>
          </a:ln>
        </p:spPr>
        <p:txBody>
          <a:bodyPr/>
          <a:lstStyle/>
          <a:p>
            <a:endParaRPr lang="tr-TR"/>
          </a:p>
        </p:txBody>
      </p:sp>
      <p:sp>
        <p:nvSpPr>
          <p:cNvPr id="17" name="Shape 13"/>
          <p:cNvSpPr/>
          <p:nvPr/>
        </p:nvSpPr>
        <p:spPr>
          <a:xfrm>
            <a:off x="8403336" y="2057400"/>
            <a:ext cx="365760" cy="45720"/>
          </a:xfrm>
          <a:prstGeom prst="rect">
            <a:avLst/>
          </a:prstGeom>
          <a:solidFill>
            <a:srgbClr val="F4A261"/>
          </a:solidFill>
          <a:ln/>
        </p:spPr>
        <p:txBody>
          <a:bodyPr/>
          <a:lstStyle/>
          <a:p>
            <a:endParaRPr lang="tr-TR"/>
          </a:p>
        </p:txBody>
      </p:sp>
      <p:sp>
        <p:nvSpPr>
          <p:cNvPr id="18" name="Text 14"/>
          <p:cNvSpPr/>
          <p:nvPr/>
        </p:nvSpPr>
        <p:spPr>
          <a:xfrm>
            <a:off x="8403336" y="2194560"/>
            <a:ext cx="914400" cy="457200"/>
          </a:xfrm>
          <a:prstGeom prst="rect">
            <a:avLst/>
          </a:prstGeom>
          <a:noFill/>
          <a:ln/>
        </p:spPr>
        <p:txBody>
          <a:bodyPr wrap="square" lIns="0" tIns="0" rIns="0" bIns="0" rtlCol="0" anchor="ctr"/>
          <a:lstStyle/>
          <a:p>
            <a:pPr marL="0" indent="0">
              <a:buNone/>
            </a:pPr>
            <a:r>
              <a:rPr lang="en-US" sz="2600" b="1" i="1" dirty="0">
                <a:solidFill>
                  <a:srgbClr val="F4A261"/>
                </a:solidFill>
                <a:latin typeface="Georgia" pitchFamily="34" charset="0"/>
                <a:ea typeface="Georgia" pitchFamily="34" charset="-122"/>
                <a:cs typeface="Georgia" pitchFamily="34" charset="-120"/>
              </a:rPr>
              <a:t>03</a:t>
            </a:r>
            <a:endParaRPr lang="en-US" sz="2600" dirty="0"/>
          </a:p>
        </p:txBody>
      </p:sp>
      <p:pic>
        <p:nvPicPr>
          <p:cNvPr id="19" name="Image 2" descr="preencoded.png"/>
          <p:cNvPicPr>
            <a:picLocks noChangeAspect="1"/>
          </p:cNvPicPr>
          <p:nvPr/>
        </p:nvPicPr>
        <p:blipFill>
          <a:blip r:embed="rId5"/>
          <a:stretch>
            <a:fillRect/>
          </a:stretch>
        </p:blipFill>
        <p:spPr>
          <a:xfrm>
            <a:off x="10735056" y="2103120"/>
            <a:ext cx="640080" cy="640080"/>
          </a:xfrm>
          <a:prstGeom prst="rect">
            <a:avLst/>
          </a:prstGeom>
        </p:spPr>
      </p:pic>
      <p:sp>
        <p:nvSpPr>
          <p:cNvPr id="20" name="Text 15"/>
          <p:cNvSpPr/>
          <p:nvPr/>
        </p:nvSpPr>
        <p:spPr>
          <a:xfrm>
            <a:off x="8403336" y="2971800"/>
            <a:ext cx="3063240" cy="868680"/>
          </a:xfrm>
          <a:prstGeom prst="rect">
            <a:avLst/>
          </a:prstGeom>
          <a:noFill/>
          <a:ln/>
        </p:spPr>
        <p:txBody>
          <a:bodyPr wrap="square" lIns="0" tIns="0" rIns="0" bIns="0" rtlCol="0" anchor="t"/>
          <a:lstStyle/>
          <a:p>
            <a:pPr marL="0" indent="0">
              <a:buNone/>
            </a:pPr>
            <a:r>
              <a:rPr lang="en-US" sz="1800" b="1" dirty="0">
                <a:solidFill>
                  <a:srgbClr val="EDEEF7"/>
                </a:solidFill>
                <a:latin typeface="Georgia" pitchFamily="34" charset="0"/>
                <a:ea typeface="Georgia" pitchFamily="34" charset="-122"/>
                <a:cs typeface="Georgia" pitchFamily="34" charset="-120"/>
              </a:rPr>
              <a:t>Trading Is Restricted or Taxed</a:t>
            </a:r>
            <a:endParaRPr lang="en-US" sz="1800" dirty="0"/>
          </a:p>
        </p:txBody>
      </p:sp>
      <p:sp>
        <p:nvSpPr>
          <p:cNvPr id="21" name="Text 16"/>
          <p:cNvSpPr/>
          <p:nvPr/>
        </p:nvSpPr>
        <p:spPr>
          <a:xfrm>
            <a:off x="8403336" y="3680460"/>
            <a:ext cx="3063240" cy="1325880"/>
          </a:xfrm>
          <a:prstGeom prst="rect">
            <a:avLst/>
          </a:prstGeom>
          <a:noFill/>
          <a:ln/>
        </p:spPr>
        <p:txBody>
          <a:bodyPr wrap="square" lIns="0" tIns="0" rIns="0" bIns="0" rtlCol="0" anchor="t"/>
          <a:lstStyle/>
          <a:p>
            <a:pPr>
              <a:spcAft>
                <a:spcPts val="400"/>
              </a:spcAft>
            </a:pPr>
            <a:r>
              <a:rPr lang="en-US" sz="1200" dirty="0">
                <a:solidFill>
                  <a:schemeClr val="accent3"/>
                </a:solidFill>
              </a:rPr>
              <a:t>Steam's Community Market takes 15% on every trade (5% Steam fee + 10% game fee on CS items) and bans cash withdrawals — your sale proceeds are locked to Steam Wallet credit. Most other games forbid peer-to-peer trades outright. On-chain, two wallets settle directly with only network gas in between.</a:t>
            </a:r>
          </a:p>
        </p:txBody>
      </p:sp>
      <p:sp>
        <p:nvSpPr>
          <p:cNvPr id="22" name="Shape 17"/>
          <p:cNvSpPr/>
          <p:nvPr/>
        </p:nvSpPr>
        <p:spPr>
          <a:xfrm>
            <a:off x="548640" y="5577840"/>
            <a:ext cx="11091672" cy="777240"/>
          </a:xfrm>
          <a:prstGeom prst="roundRect">
            <a:avLst>
              <a:gd name="adj" fmla="val 5882"/>
            </a:avLst>
          </a:prstGeom>
          <a:solidFill>
            <a:srgbClr val="1F2547"/>
          </a:solidFill>
          <a:ln w="12700">
            <a:solidFill>
              <a:srgbClr val="8B7CF6"/>
            </a:solidFill>
            <a:prstDash val="solid"/>
          </a:ln>
        </p:spPr>
        <p:txBody>
          <a:bodyPr/>
          <a:lstStyle/>
          <a:p>
            <a:endParaRPr lang="tr-TR"/>
          </a:p>
        </p:txBody>
      </p:sp>
      <p:sp>
        <p:nvSpPr>
          <p:cNvPr id="23" name="Text 18"/>
          <p:cNvSpPr/>
          <p:nvPr/>
        </p:nvSpPr>
        <p:spPr>
          <a:xfrm>
            <a:off x="777240" y="5577840"/>
            <a:ext cx="10634472" cy="777240"/>
          </a:xfrm>
          <a:prstGeom prst="rect">
            <a:avLst/>
          </a:prstGeom>
          <a:noFill/>
          <a:ln/>
        </p:spPr>
        <p:txBody>
          <a:bodyPr wrap="square" lIns="0" tIns="0" rIns="0" bIns="0" rtlCol="0" anchor="ctr"/>
          <a:lstStyle/>
          <a:p>
            <a:pPr marL="0" indent="0">
              <a:buNone/>
            </a:pPr>
            <a:r>
              <a:rPr lang="en-US" sz="1600" b="1" dirty="0">
                <a:solidFill>
                  <a:srgbClr val="8B7CF6"/>
                </a:solidFill>
                <a:latin typeface="Georgia" pitchFamily="34" charset="0"/>
                <a:ea typeface="Georgia" pitchFamily="34" charset="-122"/>
                <a:cs typeface="Georgia" pitchFamily="34" charset="-120"/>
              </a:rPr>
              <a:t>The gap:  </a:t>
            </a:r>
            <a:r>
              <a:rPr lang="en-US" sz="1400" i="1" dirty="0">
                <a:solidFill>
                  <a:srgbClr val="EDEEF7"/>
                </a:solidFill>
                <a:latin typeface="Calibri" pitchFamily="34" charset="0"/>
                <a:ea typeface="Calibri" pitchFamily="34" charset="-122"/>
                <a:cs typeface="Calibri" pitchFamily="34" charset="-120"/>
              </a:rPr>
              <a:t>Players spend real money on items they don't actually own. The game's database is a permission, not a deed.</a:t>
            </a:r>
            <a:endParaRPr lang="en-US" sz="1600" dirty="0"/>
          </a:p>
        </p:txBody>
      </p:sp>
      <p:sp>
        <p:nvSpPr>
          <p:cNvPr id="24" name="Text 19"/>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6B7295"/>
                </a:solidFill>
                <a:latin typeface="Calibri" pitchFamily="34" charset="0"/>
                <a:ea typeface="Calibri" pitchFamily="34" charset="-122"/>
                <a:cs typeface="Calibri" pitchFamily="34" charset="-120"/>
              </a:rPr>
              <a:t>EtherQuest Marketplace</a:t>
            </a:r>
            <a:r>
              <a:rPr lang="en-US" sz="900" dirty="0">
                <a:solidFill>
                  <a:srgbClr val="6B7295"/>
                </a:solidFill>
              </a:rPr>
              <a:t>   |   </a:t>
            </a:r>
            <a:r>
              <a:rPr lang="en-US" sz="900" dirty="0">
                <a:solidFill>
                  <a:srgbClr val="6B7295"/>
                </a:solidFill>
                <a:latin typeface="Consolas" pitchFamily="34" charset="0"/>
                <a:ea typeface="Consolas" pitchFamily="34" charset="-122"/>
                <a:cs typeface="Consolas" pitchFamily="34" charset="-120"/>
              </a:rPr>
              <a:t>Sepolia: 0xEd3B...0dDa</a:t>
            </a:r>
            <a:endParaRPr lang="en-US" sz="900" dirty="0"/>
          </a:p>
        </p:txBody>
      </p:sp>
      <p:sp>
        <p:nvSpPr>
          <p:cNvPr id="25" name="Text 20"/>
          <p:cNvSpPr/>
          <p:nvPr/>
        </p:nvSpPr>
        <p:spPr>
          <a:xfrm>
            <a:off x="11091672" y="6492240"/>
            <a:ext cx="640080" cy="274320"/>
          </a:xfrm>
          <a:prstGeom prst="rect">
            <a:avLst/>
          </a:prstGeom>
          <a:noFill/>
          <a:ln/>
        </p:spPr>
        <p:txBody>
          <a:bodyPr wrap="square" lIns="0" tIns="0" rIns="0" bIns="0" rtlCol="0" anchor="ctr"/>
          <a:lstStyle/>
          <a:p>
            <a:pPr marL="0" indent="0" algn="r">
              <a:buNone/>
            </a:pPr>
            <a:r>
              <a:rPr lang="en-US" sz="900" dirty="0">
                <a:solidFill>
                  <a:srgbClr val="6B7295"/>
                </a:solidFill>
                <a:latin typeface="Calibri" pitchFamily="34" charset="0"/>
                <a:ea typeface="Calibri" pitchFamily="34" charset="-122"/>
                <a:cs typeface="Calibri" pitchFamily="34" charset="-120"/>
              </a:rPr>
              <a:t>2 / 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F"/>
        </a:solidFill>
        <a:effectLst/>
      </p:bgPr>
    </p:bg>
    <p:spTree>
      <p:nvGrpSpPr>
        <p:cNvPr id="1" name=""/>
        <p:cNvGrpSpPr/>
        <p:nvPr/>
      </p:nvGrpSpPr>
      <p:grpSpPr>
        <a:xfrm>
          <a:off x="0" y="0"/>
          <a:ext cx="0" cy="0"/>
          <a:chOff x="0" y="0"/>
          <a:chExt cx="0" cy="0"/>
        </a:xfrm>
      </p:grpSpPr>
      <p:sp>
        <p:nvSpPr>
          <p:cNvPr id="2" name="Text 0"/>
          <p:cNvSpPr/>
          <p:nvPr/>
        </p:nvSpPr>
        <p:spPr>
          <a:xfrm>
            <a:off x="548639" y="411480"/>
            <a:ext cx="9124749" cy="548640"/>
          </a:xfrm>
          <a:prstGeom prst="rect">
            <a:avLst/>
          </a:prstGeom>
          <a:noFill/>
          <a:ln/>
        </p:spPr>
        <p:txBody>
          <a:bodyPr wrap="square" lIns="0" tIns="0" rIns="0" bIns="0" rtlCol="0" anchor="ctr"/>
          <a:lstStyle/>
          <a:p>
            <a:pPr marL="0" indent="0">
              <a:buNone/>
            </a:pPr>
            <a:r>
              <a:rPr lang="en-US" sz="3600" b="1" dirty="0">
                <a:solidFill>
                  <a:srgbClr val="EDEEF7"/>
                </a:solidFill>
                <a:latin typeface="Georgia" pitchFamily="34" charset="0"/>
                <a:ea typeface="Georgia" pitchFamily="34" charset="-122"/>
                <a:cs typeface="Georgia" pitchFamily="34" charset="-120"/>
              </a:rPr>
              <a:t>The </a:t>
            </a:r>
            <a:r>
              <a:rPr lang="tr-TR" sz="3600" b="1" dirty="0" err="1">
                <a:solidFill>
                  <a:srgbClr val="EDEEF7"/>
                </a:solidFill>
                <a:latin typeface="Georgia" pitchFamily="34" charset="0"/>
                <a:ea typeface="Georgia" pitchFamily="34" charset="-122"/>
                <a:cs typeface="Georgia" pitchFamily="34" charset="-120"/>
              </a:rPr>
              <a:t>Proposed</a:t>
            </a:r>
            <a:r>
              <a:rPr lang="tr-TR" sz="3600" b="1" dirty="0">
                <a:solidFill>
                  <a:srgbClr val="EDEEF7"/>
                </a:solidFill>
                <a:latin typeface="Georgia" pitchFamily="34" charset="0"/>
                <a:ea typeface="Georgia" pitchFamily="34" charset="-122"/>
                <a:cs typeface="Georgia" pitchFamily="34" charset="-120"/>
              </a:rPr>
              <a:t> </a:t>
            </a:r>
            <a:r>
              <a:rPr lang="tr-TR" sz="3600" b="1" dirty="0" err="1">
                <a:solidFill>
                  <a:srgbClr val="EDEEF7"/>
                </a:solidFill>
                <a:latin typeface="Georgia" pitchFamily="34" charset="0"/>
                <a:ea typeface="Georgia" pitchFamily="34" charset="-122"/>
                <a:cs typeface="Georgia" pitchFamily="34" charset="-120"/>
              </a:rPr>
              <a:t>Blockchain</a:t>
            </a:r>
            <a:r>
              <a:rPr lang="tr-TR" sz="3600" b="1" dirty="0">
                <a:solidFill>
                  <a:srgbClr val="EDEEF7"/>
                </a:solidFill>
                <a:latin typeface="Georgia" pitchFamily="34" charset="0"/>
                <a:ea typeface="Georgia" pitchFamily="34" charset="-122"/>
                <a:cs typeface="Georgia" pitchFamily="34" charset="-120"/>
              </a:rPr>
              <a:t> Solution</a:t>
            </a:r>
            <a:endParaRPr lang="en-US" sz="3600" dirty="0"/>
          </a:p>
        </p:txBody>
      </p:sp>
      <p:sp>
        <p:nvSpPr>
          <p:cNvPr id="3" name="Text 1"/>
          <p:cNvSpPr/>
          <p:nvPr/>
        </p:nvSpPr>
        <p:spPr>
          <a:xfrm>
            <a:off x="548640" y="914400"/>
            <a:ext cx="10972800" cy="365760"/>
          </a:xfrm>
          <a:prstGeom prst="rect">
            <a:avLst/>
          </a:prstGeom>
          <a:noFill/>
          <a:ln/>
        </p:spPr>
        <p:txBody>
          <a:bodyPr wrap="square" lIns="0" tIns="0" rIns="0" bIns="0" rtlCol="0" anchor="ctr"/>
          <a:lstStyle/>
          <a:p>
            <a:pPr marL="0" indent="0">
              <a:buNone/>
            </a:pPr>
            <a:r>
              <a:rPr lang="en-US" sz="1500" i="1" dirty="0">
                <a:solidFill>
                  <a:srgbClr val="A8AEC9"/>
                </a:solidFill>
                <a:latin typeface="Calibri" pitchFamily="34" charset="0"/>
                <a:ea typeface="Calibri" pitchFamily="34" charset="-122"/>
                <a:cs typeface="Calibri" pitchFamily="34" charset="-120"/>
              </a:rPr>
              <a:t>A smart contract that makes every item portable, permanent, and provably yours</a:t>
            </a:r>
            <a:endParaRPr lang="en-US" sz="1500" dirty="0"/>
          </a:p>
        </p:txBody>
      </p:sp>
      <p:sp>
        <p:nvSpPr>
          <p:cNvPr id="4" name="Shape 2"/>
          <p:cNvSpPr/>
          <p:nvPr/>
        </p:nvSpPr>
        <p:spPr>
          <a:xfrm>
            <a:off x="502920" y="1554480"/>
            <a:ext cx="6035040" cy="3931920"/>
          </a:xfrm>
          <a:prstGeom prst="roundRect">
            <a:avLst>
              <a:gd name="adj" fmla="val 1860"/>
            </a:avLst>
          </a:prstGeom>
          <a:solidFill>
            <a:srgbClr val="151A33"/>
          </a:solidFill>
          <a:ln w="12700">
            <a:solidFill>
              <a:srgbClr val="2A3158"/>
            </a:solidFill>
            <a:prstDash val="solid"/>
          </a:ln>
        </p:spPr>
        <p:txBody>
          <a:bodyPr/>
          <a:lstStyle/>
          <a:p>
            <a:endParaRPr lang="tr-TR"/>
          </a:p>
        </p:txBody>
      </p:sp>
      <p:pic>
        <p:nvPicPr>
          <p:cNvPr id="5" name="Image 0" descr="/home/claude/imgs/marketplace.png"/>
          <p:cNvPicPr>
            <a:picLocks noChangeAspect="1"/>
          </p:cNvPicPr>
          <p:nvPr/>
        </p:nvPicPr>
        <p:blipFill>
          <a:blip r:embed="rId3"/>
          <a:srcRect/>
          <a:stretch/>
        </p:blipFill>
        <p:spPr>
          <a:xfrm>
            <a:off x="640080" y="1691640"/>
            <a:ext cx="5760720" cy="3657600"/>
          </a:xfrm>
          <a:prstGeom prst="rect">
            <a:avLst/>
          </a:prstGeom>
        </p:spPr>
      </p:pic>
      <p:sp>
        <p:nvSpPr>
          <p:cNvPr id="6" name="Text 3"/>
          <p:cNvSpPr/>
          <p:nvPr/>
        </p:nvSpPr>
        <p:spPr>
          <a:xfrm>
            <a:off x="502920" y="5532120"/>
            <a:ext cx="6035040" cy="274320"/>
          </a:xfrm>
          <a:prstGeom prst="rect">
            <a:avLst/>
          </a:prstGeom>
          <a:noFill/>
          <a:ln/>
        </p:spPr>
        <p:txBody>
          <a:bodyPr wrap="square" lIns="0" tIns="0" rIns="0" bIns="0" rtlCol="0" anchor="ctr"/>
          <a:lstStyle/>
          <a:p>
            <a:pPr marL="0" indent="0" algn="ctr">
              <a:buNone/>
            </a:pPr>
            <a:r>
              <a:rPr lang="en-US" sz="1050" i="1" dirty="0">
                <a:solidFill>
                  <a:srgbClr val="6B7295"/>
                </a:solidFill>
                <a:latin typeface="Calibri" pitchFamily="34" charset="0"/>
                <a:ea typeface="Calibri" pitchFamily="34" charset="-122"/>
                <a:cs typeface="Calibri" pitchFamily="34" charset="-120"/>
              </a:rPr>
              <a:t>EtherQuest in-game marketplace — every listing is a smart-contract call</a:t>
            </a:r>
            <a:endParaRPr lang="en-US" sz="1050" dirty="0"/>
          </a:p>
        </p:txBody>
      </p:sp>
      <p:sp>
        <p:nvSpPr>
          <p:cNvPr id="7" name="Shape 4"/>
          <p:cNvSpPr/>
          <p:nvPr/>
        </p:nvSpPr>
        <p:spPr>
          <a:xfrm>
            <a:off x="6858000" y="1691640"/>
            <a:ext cx="822960" cy="822960"/>
          </a:xfrm>
          <a:prstGeom prst="roundRect">
            <a:avLst>
              <a:gd name="adj" fmla="val 11111"/>
            </a:avLst>
          </a:prstGeom>
          <a:solidFill>
            <a:srgbClr val="1F2547"/>
          </a:solidFill>
          <a:ln w="12700">
            <a:solidFill>
              <a:srgbClr val="8B7CF6"/>
            </a:solidFill>
            <a:prstDash val="solid"/>
          </a:ln>
        </p:spPr>
        <p:txBody>
          <a:bodyPr/>
          <a:lstStyle/>
          <a:p>
            <a:endParaRPr lang="tr-TR"/>
          </a:p>
        </p:txBody>
      </p:sp>
      <p:pic>
        <p:nvPicPr>
          <p:cNvPr id="8" name="Image 1" descr="preencoded.png"/>
          <p:cNvPicPr>
            <a:picLocks noChangeAspect="1"/>
          </p:cNvPicPr>
          <p:nvPr/>
        </p:nvPicPr>
        <p:blipFill>
          <a:blip r:embed="rId4"/>
          <a:stretch>
            <a:fillRect/>
          </a:stretch>
        </p:blipFill>
        <p:spPr>
          <a:xfrm>
            <a:off x="7040880" y="1874520"/>
            <a:ext cx="457200" cy="457200"/>
          </a:xfrm>
          <a:prstGeom prst="rect">
            <a:avLst/>
          </a:prstGeom>
        </p:spPr>
      </p:pic>
      <p:sp>
        <p:nvSpPr>
          <p:cNvPr id="9" name="Text 5"/>
          <p:cNvSpPr/>
          <p:nvPr/>
        </p:nvSpPr>
        <p:spPr>
          <a:xfrm>
            <a:off x="7863840" y="1691640"/>
            <a:ext cx="3931920" cy="411480"/>
          </a:xfrm>
          <a:prstGeom prst="rect">
            <a:avLst/>
          </a:prstGeom>
          <a:noFill/>
          <a:ln/>
        </p:spPr>
        <p:txBody>
          <a:bodyPr wrap="square" lIns="0" tIns="0" rIns="0" bIns="0" rtlCol="0" anchor="ctr"/>
          <a:lstStyle/>
          <a:p>
            <a:pPr marL="0" indent="0">
              <a:buNone/>
            </a:pPr>
            <a:r>
              <a:rPr lang="en-US" sz="1700" b="1" dirty="0">
                <a:solidFill>
                  <a:srgbClr val="EDEEF7"/>
                </a:solidFill>
                <a:latin typeface="Georgia" pitchFamily="34" charset="0"/>
                <a:ea typeface="Georgia" pitchFamily="34" charset="-122"/>
                <a:cs typeface="Georgia" pitchFamily="34" charset="-120"/>
              </a:rPr>
              <a:t>True ownership</a:t>
            </a:r>
            <a:endParaRPr lang="en-US" sz="1700" dirty="0"/>
          </a:p>
        </p:txBody>
      </p:sp>
      <p:sp>
        <p:nvSpPr>
          <p:cNvPr id="10" name="Text 6"/>
          <p:cNvSpPr/>
          <p:nvPr/>
        </p:nvSpPr>
        <p:spPr>
          <a:xfrm>
            <a:off x="7863840" y="2103120"/>
            <a:ext cx="3931920" cy="777240"/>
          </a:xfrm>
          <a:prstGeom prst="rect">
            <a:avLst/>
          </a:prstGeom>
          <a:noFill/>
          <a:ln/>
        </p:spPr>
        <p:txBody>
          <a:bodyPr wrap="square" lIns="0" tIns="0" rIns="0" bIns="0" rtlCol="0" anchor="t"/>
          <a:lstStyle/>
          <a:p>
            <a:pPr marL="0" indent="0">
              <a:buNone/>
            </a:pPr>
            <a:r>
              <a:rPr lang="en-US" sz="1200" dirty="0">
                <a:solidFill>
                  <a:srgbClr val="A8AEC9"/>
                </a:solidFill>
                <a:latin typeface="Calibri" pitchFamily="34" charset="0"/>
                <a:ea typeface="Calibri" pitchFamily="34" charset="-122"/>
                <a:cs typeface="Calibri" pitchFamily="34" charset="-120"/>
              </a:rPr>
              <a:t>Item ownership lives in a public ledger keyed to the player's wallet — not a private database row.</a:t>
            </a:r>
            <a:endParaRPr lang="en-US" sz="1200" dirty="0"/>
          </a:p>
        </p:txBody>
      </p:sp>
      <p:sp>
        <p:nvSpPr>
          <p:cNvPr id="11" name="Shape 7"/>
          <p:cNvSpPr/>
          <p:nvPr/>
        </p:nvSpPr>
        <p:spPr>
          <a:xfrm>
            <a:off x="6858000" y="2898648"/>
            <a:ext cx="822960" cy="822960"/>
          </a:xfrm>
          <a:prstGeom prst="roundRect">
            <a:avLst>
              <a:gd name="adj" fmla="val 11111"/>
            </a:avLst>
          </a:prstGeom>
          <a:solidFill>
            <a:srgbClr val="1F2547"/>
          </a:solidFill>
          <a:ln w="12700">
            <a:solidFill>
              <a:srgbClr val="8B7CF6"/>
            </a:solidFill>
            <a:prstDash val="solid"/>
          </a:ln>
        </p:spPr>
        <p:txBody>
          <a:bodyPr/>
          <a:lstStyle/>
          <a:p>
            <a:endParaRPr lang="tr-TR"/>
          </a:p>
        </p:txBody>
      </p:sp>
      <p:pic>
        <p:nvPicPr>
          <p:cNvPr id="12" name="Image 2" descr="preencoded.png"/>
          <p:cNvPicPr>
            <a:picLocks noChangeAspect="1"/>
          </p:cNvPicPr>
          <p:nvPr/>
        </p:nvPicPr>
        <p:blipFill>
          <a:blip r:embed="rId5"/>
          <a:stretch>
            <a:fillRect/>
          </a:stretch>
        </p:blipFill>
        <p:spPr>
          <a:xfrm>
            <a:off x="7040880" y="3081528"/>
            <a:ext cx="457200" cy="457200"/>
          </a:xfrm>
          <a:prstGeom prst="rect">
            <a:avLst/>
          </a:prstGeom>
        </p:spPr>
      </p:pic>
      <p:sp>
        <p:nvSpPr>
          <p:cNvPr id="13" name="Text 8"/>
          <p:cNvSpPr/>
          <p:nvPr/>
        </p:nvSpPr>
        <p:spPr>
          <a:xfrm>
            <a:off x="7863840" y="2898648"/>
            <a:ext cx="3931920" cy="411480"/>
          </a:xfrm>
          <a:prstGeom prst="rect">
            <a:avLst/>
          </a:prstGeom>
          <a:noFill/>
          <a:ln/>
        </p:spPr>
        <p:txBody>
          <a:bodyPr wrap="square" lIns="0" tIns="0" rIns="0" bIns="0" rtlCol="0" anchor="ctr"/>
          <a:lstStyle/>
          <a:p>
            <a:pPr marL="0" indent="0">
              <a:buNone/>
            </a:pPr>
            <a:r>
              <a:rPr lang="en-US" sz="1700" b="1" dirty="0">
                <a:solidFill>
                  <a:srgbClr val="EDEEF7"/>
                </a:solidFill>
                <a:latin typeface="Georgia" pitchFamily="34" charset="0"/>
                <a:ea typeface="Georgia" pitchFamily="34" charset="-122"/>
                <a:cs typeface="Georgia" pitchFamily="34" charset="-120"/>
              </a:rPr>
              <a:t>Survives the studio</a:t>
            </a:r>
            <a:endParaRPr lang="en-US" sz="1700" dirty="0"/>
          </a:p>
        </p:txBody>
      </p:sp>
      <p:sp>
        <p:nvSpPr>
          <p:cNvPr id="14" name="Text 9"/>
          <p:cNvSpPr/>
          <p:nvPr/>
        </p:nvSpPr>
        <p:spPr>
          <a:xfrm>
            <a:off x="7863840" y="3310128"/>
            <a:ext cx="3931920" cy="777240"/>
          </a:xfrm>
          <a:prstGeom prst="rect">
            <a:avLst/>
          </a:prstGeom>
          <a:noFill/>
          <a:ln/>
        </p:spPr>
        <p:txBody>
          <a:bodyPr wrap="square" lIns="0" tIns="0" rIns="0" bIns="0" rtlCol="0" anchor="t"/>
          <a:lstStyle/>
          <a:p>
            <a:pPr marL="0" indent="0">
              <a:buNone/>
            </a:pPr>
            <a:r>
              <a:rPr lang="en-US" sz="1200" dirty="0">
                <a:solidFill>
                  <a:srgbClr val="A8AEC9"/>
                </a:solidFill>
                <a:latin typeface="Calibri" pitchFamily="34" charset="0"/>
                <a:ea typeface="Calibri" pitchFamily="34" charset="-122"/>
                <a:cs typeface="Calibri" pitchFamily="34" charset="-120"/>
              </a:rPr>
              <a:t>Even if EtherQuest's servers go offline tomorrow, items remain on-chain. Any future client can read them.</a:t>
            </a:r>
            <a:endParaRPr lang="en-US" sz="1200" dirty="0"/>
          </a:p>
        </p:txBody>
      </p:sp>
      <p:sp>
        <p:nvSpPr>
          <p:cNvPr id="15" name="Shape 10"/>
          <p:cNvSpPr/>
          <p:nvPr/>
        </p:nvSpPr>
        <p:spPr>
          <a:xfrm>
            <a:off x="6858000" y="4105656"/>
            <a:ext cx="822960" cy="822960"/>
          </a:xfrm>
          <a:prstGeom prst="roundRect">
            <a:avLst>
              <a:gd name="adj" fmla="val 11111"/>
            </a:avLst>
          </a:prstGeom>
          <a:solidFill>
            <a:srgbClr val="1F2547"/>
          </a:solidFill>
          <a:ln w="12700">
            <a:solidFill>
              <a:srgbClr val="8B7CF6"/>
            </a:solidFill>
            <a:prstDash val="solid"/>
          </a:ln>
        </p:spPr>
        <p:txBody>
          <a:bodyPr/>
          <a:lstStyle/>
          <a:p>
            <a:endParaRPr lang="tr-TR"/>
          </a:p>
        </p:txBody>
      </p:sp>
      <p:pic>
        <p:nvPicPr>
          <p:cNvPr id="16" name="Image 3" descr="preencoded.png"/>
          <p:cNvPicPr>
            <a:picLocks noChangeAspect="1"/>
          </p:cNvPicPr>
          <p:nvPr/>
        </p:nvPicPr>
        <p:blipFill>
          <a:blip r:embed="rId6"/>
          <a:stretch>
            <a:fillRect/>
          </a:stretch>
        </p:blipFill>
        <p:spPr>
          <a:xfrm>
            <a:off x="7040880" y="4288536"/>
            <a:ext cx="457200" cy="457200"/>
          </a:xfrm>
          <a:prstGeom prst="rect">
            <a:avLst/>
          </a:prstGeom>
        </p:spPr>
      </p:pic>
      <p:sp>
        <p:nvSpPr>
          <p:cNvPr id="17" name="Text 11"/>
          <p:cNvSpPr/>
          <p:nvPr/>
        </p:nvSpPr>
        <p:spPr>
          <a:xfrm>
            <a:off x="7863840" y="4105656"/>
            <a:ext cx="3931920" cy="411480"/>
          </a:xfrm>
          <a:prstGeom prst="rect">
            <a:avLst/>
          </a:prstGeom>
          <a:noFill/>
          <a:ln/>
        </p:spPr>
        <p:txBody>
          <a:bodyPr wrap="square" lIns="0" tIns="0" rIns="0" bIns="0" rtlCol="0" anchor="ctr"/>
          <a:lstStyle/>
          <a:p>
            <a:r>
              <a:rPr lang="tr-TR" sz="1700" dirty="0" err="1">
                <a:solidFill>
                  <a:schemeClr val="bg1"/>
                </a:solidFill>
                <a:latin typeface="Georgia" panose="02040502050405020303" pitchFamily="18" charset="0"/>
              </a:rPr>
              <a:t>Provably</a:t>
            </a:r>
            <a:r>
              <a:rPr lang="tr-TR" sz="1700" dirty="0">
                <a:solidFill>
                  <a:schemeClr val="bg1"/>
                </a:solidFill>
                <a:latin typeface="Georgia" panose="02040502050405020303" pitchFamily="18" charset="0"/>
              </a:rPr>
              <a:t> </a:t>
            </a:r>
            <a:r>
              <a:rPr lang="tr-TR" sz="1700" dirty="0" err="1">
                <a:solidFill>
                  <a:schemeClr val="bg1"/>
                </a:solidFill>
                <a:latin typeface="Georgia" panose="02040502050405020303" pitchFamily="18" charset="0"/>
              </a:rPr>
              <a:t>unique</a:t>
            </a:r>
            <a:r>
              <a:rPr lang="tr-TR" sz="1700" dirty="0">
                <a:solidFill>
                  <a:schemeClr val="bg1"/>
                </a:solidFill>
                <a:latin typeface="Georgia" panose="02040502050405020303" pitchFamily="18" charset="0"/>
              </a:rPr>
              <a:t> </a:t>
            </a:r>
            <a:r>
              <a:rPr lang="tr-TR" sz="1700" dirty="0" err="1">
                <a:solidFill>
                  <a:schemeClr val="bg1"/>
                </a:solidFill>
                <a:latin typeface="Georgia" panose="02040502050405020303" pitchFamily="18" charset="0"/>
              </a:rPr>
              <a:t>items</a:t>
            </a:r>
            <a:endParaRPr lang="en-US" sz="1700" dirty="0">
              <a:solidFill>
                <a:schemeClr val="bg1"/>
              </a:solidFill>
              <a:latin typeface="Georgia" panose="02040502050405020303" pitchFamily="18" charset="0"/>
            </a:endParaRPr>
          </a:p>
        </p:txBody>
      </p:sp>
      <p:sp>
        <p:nvSpPr>
          <p:cNvPr id="18" name="Text 12"/>
          <p:cNvSpPr/>
          <p:nvPr/>
        </p:nvSpPr>
        <p:spPr>
          <a:xfrm>
            <a:off x="7863840" y="4517136"/>
            <a:ext cx="3931920" cy="777240"/>
          </a:xfrm>
          <a:prstGeom prst="rect">
            <a:avLst/>
          </a:prstGeom>
          <a:noFill/>
          <a:ln/>
        </p:spPr>
        <p:txBody>
          <a:bodyPr wrap="square" lIns="0" tIns="0" rIns="0" bIns="0" rtlCol="0" anchor="t"/>
          <a:lstStyle/>
          <a:p>
            <a:r>
              <a:rPr lang="en-US" sz="1200" dirty="0">
                <a:solidFill>
                  <a:schemeClr val="bg2"/>
                </a:solidFill>
              </a:rPr>
              <a:t>Every item has an on-chain </a:t>
            </a:r>
            <a:r>
              <a:rPr lang="en-US" dirty="0">
                <a:solidFill>
                  <a:schemeClr val="bg2"/>
                </a:solidFill>
              </a:rPr>
              <a:t>id</a:t>
            </a:r>
            <a:r>
              <a:rPr lang="en-US" sz="1200" dirty="0">
                <a:solidFill>
                  <a:schemeClr val="bg2"/>
                </a:solidFill>
              </a:rPr>
              <a:t>, fixed stats (ATK, DEF, rarity), and a verifiable history of every owner who ever held it. A "Legendary Sword of Frost #003" is genuinely one-of-a-kind — not a database entry the studio could duplicate, nerf, or revoke.</a:t>
            </a:r>
          </a:p>
        </p:txBody>
      </p:sp>
      <p:sp>
        <p:nvSpPr>
          <p:cNvPr id="19" name="Shape 13"/>
          <p:cNvSpPr/>
          <p:nvPr/>
        </p:nvSpPr>
        <p:spPr>
          <a:xfrm>
            <a:off x="6858000" y="5532120"/>
            <a:ext cx="45720" cy="777240"/>
          </a:xfrm>
          <a:prstGeom prst="rect">
            <a:avLst/>
          </a:prstGeom>
          <a:solidFill>
            <a:srgbClr val="F4A261"/>
          </a:solidFill>
          <a:ln/>
        </p:spPr>
        <p:txBody>
          <a:bodyPr/>
          <a:lstStyle/>
          <a:p>
            <a:endParaRPr lang="tr-TR"/>
          </a:p>
        </p:txBody>
      </p:sp>
      <p:sp>
        <p:nvSpPr>
          <p:cNvPr id="20" name="Text 14"/>
          <p:cNvSpPr/>
          <p:nvPr/>
        </p:nvSpPr>
        <p:spPr>
          <a:xfrm>
            <a:off x="7040880" y="5532120"/>
            <a:ext cx="4754880" cy="777240"/>
          </a:xfrm>
          <a:prstGeom prst="rect">
            <a:avLst/>
          </a:prstGeom>
          <a:noFill/>
          <a:ln/>
        </p:spPr>
        <p:txBody>
          <a:bodyPr wrap="square" lIns="0" tIns="0" rIns="0" bIns="0" rtlCol="0" anchor="ctr"/>
          <a:lstStyle/>
          <a:p>
            <a:pPr marL="0" indent="0">
              <a:buNone/>
            </a:pPr>
            <a:r>
              <a:rPr lang="en-US" sz="1200" b="1" dirty="0">
                <a:solidFill>
                  <a:srgbClr val="F4A261"/>
                </a:solidFill>
                <a:latin typeface="Georgia" pitchFamily="34" charset="0"/>
                <a:ea typeface="Georgia" pitchFamily="34" charset="-122"/>
                <a:cs typeface="Georgia" pitchFamily="34" charset="-120"/>
              </a:rPr>
              <a:t>Real precedent  </a:t>
            </a:r>
            <a:r>
              <a:rPr lang="en-US" sz="1150" i="1" dirty="0">
                <a:solidFill>
                  <a:srgbClr val="A8AEC9"/>
                </a:solidFill>
                <a:latin typeface="Calibri" pitchFamily="34" charset="0"/>
                <a:ea typeface="Calibri" pitchFamily="34" charset="-122"/>
                <a:cs typeface="Calibri" pitchFamily="34" charset="-120"/>
              </a:rPr>
              <a:t>Axie Infinity's items have generated billions in secondary trade volume. Gods Unchained and Illuvium followed the same model. This is a proven design — not a thought experiment.</a:t>
            </a:r>
            <a:endParaRPr lang="en-US" sz="1200" dirty="0"/>
          </a:p>
        </p:txBody>
      </p:sp>
      <p:sp>
        <p:nvSpPr>
          <p:cNvPr id="21" name="Text 15"/>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6B7295"/>
                </a:solidFill>
                <a:latin typeface="Calibri" pitchFamily="34" charset="0"/>
                <a:ea typeface="Calibri" pitchFamily="34" charset="-122"/>
                <a:cs typeface="Calibri" pitchFamily="34" charset="-120"/>
              </a:rPr>
              <a:t>EtherQuest Marketplace</a:t>
            </a:r>
            <a:r>
              <a:rPr lang="en-US" sz="900" dirty="0">
                <a:solidFill>
                  <a:srgbClr val="6B7295"/>
                </a:solidFill>
              </a:rPr>
              <a:t>   |   </a:t>
            </a:r>
            <a:r>
              <a:rPr lang="en-US" sz="900" dirty="0">
                <a:solidFill>
                  <a:srgbClr val="6B7295"/>
                </a:solidFill>
                <a:latin typeface="Consolas" pitchFamily="34" charset="0"/>
                <a:ea typeface="Consolas" pitchFamily="34" charset="-122"/>
                <a:cs typeface="Consolas" pitchFamily="34" charset="-120"/>
              </a:rPr>
              <a:t>Sepolia: 0xEd3B...0dDa</a:t>
            </a:r>
            <a:endParaRPr lang="en-US" sz="900" dirty="0"/>
          </a:p>
        </p:txBody>
      </p:sp>
      <p:sp>
        <p:nvSpPr>
          <p:cNvPr id="22" name="Text 16"/>
          <p:cNvSpPr/>
          <p:nvPr/>
        </p:nvSpPr>
        <p:spPr>
          <a:xfrm>
            <a:off x="11091672" y="6492240"/>
            <a:ext cx="640080" cy="274320"/>
          </a:xfrm>
          <a:prstGeom prst="rect">
            <a:avLst/>
          </a:prstGeom>
          <a:noFill/>
          <a:ln/>
        </p:spPr>
        <p:txBody>
          <a:bodyPr wrap="square" lIns="0" tIns="0" rIns="0" bIns="0" rtlCol="0" anchor="ctr"/>
          <a:lstStyle/>
          <a:p>
            <a:pPr marL="0" indent="0" algn="r">
              <a:buNone/>
            </a:pPr>
            <a:r>
              <a:rPr lang="en-US" sz="900" dirty="0">
                <a:solidFill>
                  <a:srgbClr val="6B7295"/>
                </a:solidFill>
                <a:latin typeface="Calibri" pitchFamily="34" charset="0"/>
                <a:ea typeface="Calibri" pitchFamily="34" charset="-122"/>
                <a:cs typeface="Calibri" pitchFamily="34" charset="-120"/>
              </a:rPr>
              <a:t>3 / 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lIns="0" tIns="0" rIns="0" bIns="0" rtlCol="0" anchor="ctr"/>
          <a:lstStyle/>
          <a:p>
            <a:pPr marL="0" indent="0">
              <a:buNone/>
            </a:pPr>
            <a:r>
              <a:rPr lang="en-US" sz="3600" b="1" dirty="0">
                <a:solidFill>
                  <a:srgbClr val="EDEEF7"/>
                </a:solidFill>
                <a:latin typeface="Georgia" pitchFamily="34" charset="0"/>
                <a:ea typeface="Georgia" pitchFamily="34" charset="-122"/>
                <a:cs typeface="Georgia" pitchFamily="34" charset="-120"/>
              </a:rPr>
              <a:t>System Architecture</a:t>
            </a:r>
            <a:r>
              <a:rPr lang="tr-TR" sz="3600" b="1" dirty="0">
                <a:solidFill>
                  <a:srgbClr val="EDEEF7"/>
                </a:solidFill>
                <a:latin typeface="Georgia" pitchFamily="34" charset="0"/>
                <a:ea typeface="Georgia" pitchFamily="34" charset="-122"/>
                <a:cs typeface="Georgia" pitchFamily="34" charset="-120"/>
              </a:rPr>
              <a:t> &amp; </a:t>
            </a:r>
            <a:r>
              <a:rPr lang="tr-TR" sz="3600" b="1" dirty="0" err="1">
                <a:solidFill>
                  <a:srgbClr val="EDEEF7"/>
                </a:solidFill>
                <a:latin typeface="Georgia" pitchFamily="34" charset="0"/>
                <a:ea typeface="Georgia" pitchFamily="34" charset="-122"/>
                <a:cs typeface="Georgia" pitchFamily="34" charset="-120"/>
              </a:rPr>
              <a:t>Actors</a:t>
            </a:r>
            <a:endParaRPr lang="en-US" sz="3600" dirty="0"/>
          </a:p>
        </p:txBody>
      </p:sp>
      <p:sp>
        <p:nvSpPr>
          <p:cNvPr id="3" name="Text 1"/>
          <p:cNvSpPr/>
          <p:nvPr/>
        </p:nvSpPr>
        <p:spPr>
          <a:xfrm>
            <a:off x="548640" y="914400"/>
            <a:ext cx="10972800" cy="365760"/>
          </a:xfrm>
          <a:prstGeom prst="rect">
            <a:avLst/>
          </a:prstGeom>
          <a:noFill/>
          <a:ln/>
        </p:spPr>
        <p:txBody>
          <a:bodyPr wrap="square" lIns="0" tIns="0" rIns="0" bIns="0" rtlCol="0" anchor="ctr"/>
          <a:lstStyle/>
          <a:p>
            <a:pPr marL="0" indent="0">
              <a:buNone/>
            </a:pPr>
            <a:r>
              <a:rPr lang="en-US" sz="1500" i="1" dirty="0">
                <a:solidFill>
                  <a:srgbClr val="A8AEC9"/>
                </a:solidFill>
                <a:latin typeface="Calibri" pitchFamily="34" charset="0"/>
                <a:ea typeface="Calibri" pitchFamily="34" charset="-122"/>
                <a:cs typeface="Calibri" pitchFamily="34" charset="-120"/>
              </a:rPr>
              <a:t>Where each responsibility lives — and why the split matters</a:t>
            </a:r>
            <a:endParaRPr lang="en-US" sz="1500" dirty="0"/>
          </a:p>
        </p:txBody>
      </p:sp>
      <p:sp>
        <p:nvSpPr>
          <p:cNvPr id="4" name="Text 2"/>
          <p:cNvSpPr/>
          <p:nvPr/>
        </p:nvSpPr>
        <p:spPr>
          <a:xfrm>
            <a:off x="548640" y="1371600"/>
            <a:ext cx="7315200" cy="320040"/>
          </a:xfrm>
          <a:prstGeom prst="rect">
            <a:avLst/>
          </a:prstGeom>
          <a:noFill/>
          <a:ln/>
        </p:spPr>
        <p:txBody>
          <a:bodyPr wrap="square" lIns="0" tIns="0" rIns="0" bIns="0" rtlCol="0" anchor="ctr"/>
          <a:lstStyle/>
          <a:p>
            <a:pPr marL="0" indent="0">
              <a:buNone/>
            </a:pPr>
            <a:r>
              <a:rPr lang="en-US" sz="1400" b="1" kern="0" spc="200" dirty="0">
                <a:solidFill>
                  <a:srgbClr val="8B7CF6"/>
                </a:solidFill>
                <a:latin typeface="Georgia" pitchFamily="34" charset="0"/>
                <a:ea typeface="Georgia" pitchFamily="34" charset="-122"/>
                <a:cs typeface="Georgia" pitchFamily="34" charset="-120"/>
              </a:rPr>
              <a:t>Three actors, one ledger</a:t>
            </a:r>
            <a:endParaRPr lang="en-US" sz="1400" dirty="0"/>
          </a:p>
        </p:txBody>
      </p:sp>
      <p:sp>
        <p:nvSpPr>
          <p:cNvPr id="5" name="Shape 3"/>
          <p:cNvSpPr/>
          <p:nvPr/>
        </p:nvSpPr>
        <p:spPr>
          <a:xfrm>
            <a:off x="374904" y="1783080"/>
            <a:ext cx="3703320" cy="1554480"/>
          </a:xfrm>
          <a:prstGeom prst="roundRect">
            <a:avLst>
              <a:gd name="adj" fmla="val 4706"/>
            </a:avLst>
          </a:prstGeom>
          <a:solidFill>
            <a:srgbClr val="151A33"/>
          </a:solidFill>
          <a:ln w="12700">
            <a:solidFill>
              <a:srgbClr val="2A3158"/>
            </a:solidFill>
            <a:prstDash val="solid"/>
          </a:ln>
        </p:spPr>
        <p:txBody>
          <a:bodyPr/>
          <a:lstStyle/>
          <a:p>
            <a:endParaRPr lang="tr-TR"/>
          </a:p>
        </p:txBody>
      </p:sp>
      <p:pic>
        <p:nvPicPr>
          <p:cNvPr id="6" name="Image 0" descr="preencoded.png"/>
          <p:cNvPicPr>
            <a:picLocks noChangeAspect="1"/>
          </p:cNvPicPr>
          <p:nvPr/>
        </p:nvPicPr>
        <p:blipFill>
          <a:blip r:embed="rId3"/>
          <a:stretch>
            <a:fillRect/>
          </a:stretch>
        </p:blipFill>
        <p:spPr>
          <a:xfrm>
            <a:off x="649224" y="2057400"/>
            <a:ext cx="640080" cy="640080"/>
          </a:xfrm>
          <a:prstGeom prst="rect">
            <a:avLst/>
          </a:prstGeom>
        </p:spPr>
      </p:pic>
      <p:sp>
        <p:nvSpPr>
          <p:cNvPr id="7" name="Text 4"/>
          <p:cNvSpPr/>
          <p:nvPr/>
        </p:nvSpPr>
        <p:spPr>
          <a:xfrm>
            <a:off x="1426464" y="2011680"/>
            <a:ext cx="2514600" cy="411480"/>
          </a:xfrm>
          <a:prstGeom prst="rect">
            <a:avLst/>
          </a:prstGeom>
          <a:noFill/>
          <a:ln/>
        </p:spPr>
        <p:txBody>
          <a:bodyPr wrap="square" lIns="0" tIns="0" rIns="0" bIns="0" rtlCol="0" anchor="ctr"/>
          <a:lstStyle/>
          <a:p>
            <a:pPr marL="0" indent="0">
              <a:buNone/>
            </a:pPr>
            <a:r>
              <a:rPr lang="en-US" sz="1700" b="1" dirty="0">
                <a:solidFill>
                  <a:srgbClr val="EDEEF7"/>
                </a:solidFill>
                <a:latin typeface="Georgia" pitchFamily="34" charset="0"/>
                <a:ea typeface="Georgia" pitchFamily="34" charset="-122"/>
                <a:cs typeface="Georgia" pitchFamily="34" charset="-120"/>
              </a:rPr>
              <a:t>Game Admin</a:t>
            </a:r>
            <a:endParaRPr lang="en-US" sz="1700" dirty="0"/>
          </a:p>
        </p:txBody>
      </p:sp>
      <p:sp>
        <p:nvSpPr>
          <p:cNvPr id="8" name="Text 5"/>
          <p:cNvSpPr/>
          <p:nvPr/>
        </p:nvSpPr>
        <p:spPr>
          <a:xfrm>
            <a:off x="1426464" y="2423160"/>
            <a:ext cx="2514600" cy="868680"/>
          </a:xfrm>
          <a:prstGeom prst="rect">
            <a:avLst/>
          </a:prstGeom>
          <a:noFill/>
          <a:ln/>
        </p:spPr>
        <p:txBody>
          <a:bodyPr wrap="square" lIns="0" tIns="0" rIns="0" bIns="0" rtlCol="0" anchor="t"/>
          <a:lstStyle/>
          <a:p>
            <a:pPr marL="0" indent="0">
              <a:buNone/>
            </a:pPr>
            <a:r>
              <a:rPr lang="en-US" sz="1150" dirty="0">
                <a:solidFill>
                  <a:srgbClr val="A8AEC9"/>
                </a:solidFill>
                <a:latin typeface="Calibri" pitchFamily="34" charset="0"/>
                <a:ea typeface="Calibri" pitchFamily="34" charset="-122"/>
                <a:cs typeface="Calibri" pitchFamily="34" charset="-120"/>
              </a:rPr>
              <a:t>The studio. Mints new items, sets initial prices. The only address allowed to call createItem.</a:t>
            </a:r>
            <a:endParaRPr lang="en-US" sz="1150" dirty="0"/>
          </a:p>
        </p:txBody>
      </p:sp>
      <p:sp>
        <p:nvSpPr>
          <p:cNvPr id="9" name="Shape 6"/>
          <p:cNvSpPr/>
          <p:nvPr/>
        </p:nvSpPr>
        <p:spPr>
          <a:xfrm>
            <a:off x="4242816" y="1783080"/>
            <a:ext cx="3703320" cy="1554480"/>
          </a:xfrm>
          <a:prstGeom prst="roundRect">
            <a:avLst>
              <a:gd name="adj" fmla="val 4706"/>
            </a:avLst>
          </a:prstGeom>
          <a:solidFill>
            <a:srgbClr val="151A33"/>
          </a:solidFill>
          <a:ln w="12700">
            <a:solidFill>
              <a:srgbClr val="2A3158"/>
            </a:solidFill>
            <a:prstDash val="solid"/>
          </a:ln>
        </p:spPr>
        <p:txBody>
          <a:bodyPr/>
          <a:lstStyle/>
          <a:p>
            <a:endParaRPr lang="tr-TR"/>
          </a:p>
        </p:txBody>
      </p:sp>
      <p:pic>
        <p:nvPicPr>
          <p:cNvPr id="10" name="Image 1" descr="preencoded.png"/>
          <p:cNvPicPr>
            <a:picLocks noChangeAspect="1"/>
          </p:cNvPicPr>
          <p:nvPr/>
        </p:nvPicPr>
        <p:blipFill>
          <a:blip r:embed="rId4"/>
          <a:stretch>
            <a:fillRect/>
          </a:stretch>
        </p:blipFill>
        <p:spPr>
          <a:xfrm>
            <a:off x="4517136" y="2057400"/>
            <a:ext cx="640080" cy="640080"/>
          </a:xfrm>
          <a:prstGeom prst="rect">
            <a:avLst/>
          </a:prstGeom>
        </p:spPr>
      </p:pic>
      <p:sp>
        <p:nvSpPr>
          <p:cNvPr id="11" name="Text 7"/>
          <p:cNvSpPr/>
          <p:nvPr/>
        </p:nvSpPr>
        <p:spPr>
          <a:xfrm>
            <a:off x="5294376" y="2011680"/>
            <a:ext cx="2514600" cy="411480"/>
          </a:xfrm>
          <a:prstGeom prst="rect">
            <a:avLst/>
          </a:prstGeom>
          <a:noFill/>
          <a:ln/>
        </p:spPr>
        <p:txBody>
          <a:bodyPr wrap="square" lIns="0" tIns="0" rIns="0" bIns="0" rtlCol="0" anchor="ctr"/>
          <a:lstStyle/>
          <a:p>
            <a:pPr marL="0" indent="0">
              <a:buNone/>
            </a:pPr>
            <a:r>
              <a:rPr lang="en-US" sz="1700" b="1" dirty="0">
                <a:solidFill>
                  <a:srgbClr val="EDEEF7"/>
                </a:solidFill>
                <a:latin typeface="Georgia" pitchFamily="34" charset="0"/>
                <a:ea typeface="Georgia" pitchFamily="34" charset="-122"/>
                <a:cs typeface="Georgia" pitchFamily="34" charset="-120"/>
              </a:rPr>
              <a:t>Player Wallet</a:t>
            </a:r>
            <a:endParaRPr lang="en-US" sz="1700" dirty="0"/>
          </a:p>
        </p:txBody>
      </p:sp>
      <p:sp>
        <p:nvSpPr>
          <p:cNvPr id="12" name="Text 8"/>
          <p:cNvSpPr/>
          <p:nvPr/>
        </p:nvSpPr>
        <p:spPr>
          <a:xfrm>
            <a:off x="5294376" y="2423160"/>
            <a:ext cx="2514600" cy="868680"/>
          </a:xfrm>
          <a:prstGeom prst="rect">
            <a:avLst/>
          </a:prstGeom>
          <a:noFill/>
          <a:ln/>
        </p:spPr>
        <p:txBody>
          <a:bodyPr wrap="square" lIns="0" tIns="0" rIns="0" bIns="0" rtlCol="0" anchor="t"/>
          <a:lstStyle/>
          <a:p>
            <a:pPr marL="0" indent="0">
              <a:buNone/>
            </a:pPr>
            <a:r>
              <a:rPr lang="en-US" sz="1150" dirty="0">
                <a:solidFill>
                  <a:srgbClr val="A8AEC9"/>
                </a:solidFill>
                <a:latin typeface="Calibri" pitchFamily="34" charset="0"/>
                <a:ea typeface="Calibri" pitchFamily="34" charset="-122"/>
                <a:cs typeface="Calibri" pitchFamily="34" charset="-120"/>
              </a:rPr>
              <a:t>Any Ethereum address. Buys, sells, gifts, and lists items. Signs every action via MetaMask.</a:t>
            </a:r>
            <a:endParaRPr lang="en-US" sz="1150" dirty="0"/>
          </a:p>
        </p:txBody>
      </p:sp>
      <p:sp>
        <p:nvSpPr>
          <p:cNvPr id="13" name="Shape 9"/>
          <p:cNvSpPr/>
          <p:nvPr/>
        </p:nvSpPr>
        <p:spPr>
          <a:xfrm>
            <a:off x="8110728" y="1783080"/>
            <a:ext cx="3703320" cy="1554480"/>
          </a:xfrm>
          <a:prstGeom prst="roundRect">
            <a:avLst>
              <a:gd name="adj" fmla="val 4706"/>
            </a:avLst>
          </a:prstGeom>
          <a:solidFill>
            <a:srgbClr val="151A33"/>
          </a:solidFill>
          <a:ln w="12700">
            <a:solidFill>
              <a:srgbClr val="2A3158"/>
            </a:solidFill>
            <a:prstDash val="solid"/>
          </a:ln>
        </p:spPr>
        <p:txBody>
          <a:bodyPr/>
          <a:lstStyle/>
          <a:p>
            <a:endParaRPr lang="tr-TR"/>
          </a:p>
        </p:txBody>
      </p:sp>
      <p:pic>
        <p:nvPicPr>
          <p:cNvPr id="14" name="Image 2" descr="preencoded.png"/>
          <p:cNvPicPr>
            <a:picLocks noChangeAspect="1"/>
          </p:cNvPicPr>
          <p:nvPr/>
        </p:nvPicPr>
        <p:blipFill>
          <a:blip r:embed="rId5"/>
          <a:stretch>
            <a:fillRect/>
          </a:stretch>
        </p:blipFill>
        <p:spPr>
          <a:xfrm>
            <a:off x="8385048" y="2057400"/>
            <a:ext cx="640080" cy="640080"/>
          </a:xfrm>
          <a:prstGeom prst="rect">
            <a:avLst/>
          </a:prstGeom>
        </p:spPr>
      </p:pic>
      <p:sp>
        <p:nvSpPr>
          <p:cNvPr id="15" name="Text 10"/>
          <p:cNvSpPr/>
          <p:nvPr/>
        </p:nvSpPr>
        <p:spPr>
          <a:xfrm>
            <a:off x="9162288" y="2011680"/>
            <a:ext cx="2514600" cy="411480"/>
          </a:xfrm>
          <a:prstGeom prst="rect">
            <a:avLst/>
          </a:prstGeom>
          <a:noFill/>
          <a:ln/>
        </p:spPr>
        <p:txBody>
          <a:bodyPr wrap="square" lIns="0" tIns="0" rIns="0" bIns="0" rtlCol="0" anchor="ctr"/>
          <a:lstStyle/>
          <a:p>
            <a:pPr marL="0" indent="0">
              <a:buNone/>
            </a:pPr>
            <a:r>
              <a:rPr lang="en-US" sz="1700" b="1" dirty="0">
                <a:solidFill>
                  <a:srgbClr val="EDEEF7"/>
                </a:solidFill>
                <a:latin typeface="Georgia" pitchFamily="34" charset="0"/>
                <a:ea typeface="Georgia" pitchFamily="34" charset="-122"/>
                <a:cs typeface="Georgia" pitchFamily="34" charset="-120"/>
              </a:rPr>
              <a:t>Smart Contract</a:t>
            </a:r>
            <a:endParaRPr lang="en-US" sz="1700" dirty="0"/>
          </a:p>
        </p:txBody>
      </p:sp>
      <p:sp>
        <p:nvSpPr>
          <p:cNvPr id="16" name="Text 11"/>
          <p:cNvSpPr/>
          <p:nvPr/>
        </p:nvSpPr>
        <p:spPr>
          <a:xfrm>
            <a:off x="9162288" y="2423160"/>
            <a:ext cx="2514600" cy="868680"/>
          </a:xfrm>
          <a:prstGeom prst="rect">
            <a:avLst/>
          </a:prstGeom>
          <a:noFill/>
          <a:ln/>
        </p:spPr>
        <p:txBody>
          <a:bodyPr wrap="square" lIns="0" tIns="0" rIns="0" bIns="0" rtlCol="0" anchor="t"/>
          <a:lstStyle/>
          <a:p>
            <a:pPr marL="0" indent="0">
              <a:buNone/>
            </a:pPr>
            <a:r>
              <a:rPr lang="en-US" sz="1150" dirty="0">
                <a:solidFill>
                  <a:srgbClr val="A8AEC9"/>
                </a:solidFill>
                <a:latin typeface="Calibri" pitchFamily="34" charset="0"/>
                <a:ea typeface="Calibri" pitchFamily="34" charset="-122"/>
                <a:cs typeface="Calibri" pitchFamily="34" charset="-120"/>
              </a:rPr>
              <a:t>The neutral ledger. Records who owns what, transfers ETH atomically with ownership changes.</a:t>
            </a:r>
            <a:endParaRPr lang="en-US" sz="1150" dirty="0"/>
          </a:p>
        </p:txBody>
      </p:sp>
      <p:sp>
        <p:nvSpPr>
          <p:cNvPr id="17" name="Text 12"/>
          <p:cNvSpPr/>
          <p:nvPr/>
        </p:nvSpPr>
        <p:spPr>
          <a:xfrm>
            <a:off x="548640" y="3520440"/>
            <a:ext cx="7315200" cy="320040"/>
          </a:xfrm>
          <a:prstGeom prst="rect">
            <a:avLst/>
          </a:prstGeom>
          <a:noFill/>
          <a:ln/>
        </p:spPr>
        <p:txBody>
          <a:bodyPr wrap="square" lIns="0" tIns="0" rIns="0" bIns="0" rtlCol="0" anchor="ctr"/>
          <a:lstStyle/>
          <a:p>
            <a:pPr marL="0" indent="0">
              <a:buNone/>
            </a:pPr>
            <a:r>
              <a:rPr lang="en-US" sz="1400" b="1" kern="0" spc="200" dirty="0">
                <a:solidFill>
                  <a:srgbClr val="8B7CF6"/>
                </a:solidFill>
                <a:latin typeface="Georgia" pitchFamily="34" charset="0"/>
                <a:ea typeface="Georgia" pitchFamily="34" charset="-122"/>
                <a:cs typeface="Georgia" pitchFamily="34" charset="-120"/>
              </a:rPr>
              <a:t>Off-chain  ·  On-chain split</a:t>
            </a:r>
            <a:endParaRPr lang="en-US" sz="1400" dirty="0"/>
          </a:p>
        </p:txBody>
      </p:sp>
      <p:sp>
        <p:nvSpPr>
          <p:cNvPr id="18" name="Shape 13"/>
          <p:cNvSpPr/>
          <p:nvPr/>
        </p:nvSpPr>
        <p:spPr>
          <a:xfrm>
            <a:off x="548640" y="3931920"/>
            <a:ext cx="5486400" cy="2606040"/>
          </a:xfrm>
          <a:prstGeom prst="roundRect">
            <a:avLst>
              <a:gd name="adj" fmla="val 2807"/>
            </a:avLst>
          </a:prstGeom>
          <a:solidFill>
            <a:srgbClr val="151A33"/>
          </a:solidFill>
          <a:ln w="12700">
            <a:solidFill>
              <a:srgbClr val="2A3158"/>
            </a:solidFill>
            <a:prstDash val="solid"/>
          </a:ln>
        </p:spPr>
        <p:txBody>
          <a:bodyPr/>
          <a:lstStyle/>
          <a:p>
            <a:endParaRPr lang="tr-TR"/>
          </a:p>
        </p:txBody>
      </p:sp>
      <p:pic>
        <p:nvPicPr>
          <p:cNvPr id="19" name="Image 3" descr="preencoded.png"/>
          <p:cNvPicPr>
            <a:picLocks noChangeAspect="1"/>
          </p:cNvPicPr>
          <p:nvPr/>
        </p:nvPicPr>
        <p:blipFill>
          <a:blip r:embed="rId6"/>
          <a:stretch>
            <a:fillRect/>
          </a:stretch>
        </p:blipFill>
        <p:spPr>
          <a:xfrm>
            <a:off x="777240" y="4114800"/>
            <a:ext cx="457200" cy="457200"/>
          </a:xfrm>
          <a:prstGeom prst="rect">
            <a:avLst/>
          </a:prstGeom>
        </p:spPr>
      </p:pic>
      <p:sp>
        <p:nvSpPr>
          <p:cNvPr id="20" name="Text 14"/>
          <p:cNvSpPr/>
          <p:nvPr/>
        </p:nvSpPr>
        <p:spPr>
          <a:xfrm>
            <a:off x="1371600" y="4114800"/>
            <a:ext cx="2743200" cy="320040"/>
          </a:xfrm>
          <a:prstGeom prst="rect">
            <a:avLst/>
          </a:prstGeom>
          <a:noFill/>
          <a:ln/>
        </p:spPr>
        <p:txBody>
          <a:bodyPr wrap="square" lIns="0" tIns="0" rIns="0" bIns="0" rtlCol="0" anchor="ctr"/>
          <a:lstStyle/>
          <a:p>
            <a:pPr marL="0" indent="0">
              <a:buNone/>
            </a:pPr>
            <a:r>
              <a:rPr lang="en-US" sz="1100" b="1" kern="0" spc="300" dirty="0">
                <a:solidFill>
                  <a:srgbClr val="F4A261"/>
                </a:solidFill>
                <a:latin typeface="Calibri" pitchFamily="34" charset="0"/>
                <a:ea typeface="Calibri" pitchFamily="34" charset="-122"/>
                <a:cs typeface="Calibri" pitchFamily="34" charset="-120"/>
              </a:rPr>
              <a:t>OFF-CHAIN</a:t>
            </a:r>
            <a:endParaRPr lang="en-US" sz="1100" dirty="0"/>
          </a:p>
        </p:txBody>
      </p:sp>
      <p:sp>
        <p:nvSpPr>
          <p:cNvPr id="21" name="Text 15"/>
          <p:cNvSpPr/>
          <p:nvPr/>
        </p:nvSpPr>
        <p:spPr>
          <a:xfrm>
            <a:off x="1371600" y="4370832"/>
            <a:ext cx="4114800" cy="365760"/>
          </a:xfrm>
          <a:prstGeom prst="rect">
            <a:avLst/>
          </a:prstGeom>
          <a:noFill/>
          <a:ln/>
        </p:spPr>
        <p:txBody>
          <a:bodyPr wrap="square" lIns="0" tIns="0" rIns="0" bIns="0" rtlCol="0" anchor="ctr"/>
          <a:lstStyle/>
          <a:p>
            <a:pPr marL="0" indent="0">
              <a:buNone/>
            </a:pPr>
            <a:r>
              <a:rPr lang="en-US" sz="1800" b="1" dirty="0">
                <a:solidFill>
                  <a:srgbClr val="EDEEF7"/>
                </a:solidFill>
                <a:latin typeface="Georgia" pitchFamily="34" charset="0"/>
                <a:ea typeface="Georgia" pitchFamily="34" charset="-122"/>
                <a:cs typeface="Georgia" pitchFamily="34" charset="-120"/>
              </a:rPr>
              <a:t>The game itself</a:t>
            </a:r>
            <a:endParaRPr lang="en-US" sz="1800" dirty="0"/>
          </a:p>
        </p:txBody>
      </p:sp>
      <p:sp>
        <p:nvSpPr>
          <p:cNvPr id="22" name="Text 16"/>
          <p:cNvSpPr/>
          <p:nvPr/>
        </p:nvSpPr>
        <p:spPr>
          <a:xfrm>
            <a:off x="868680" y="4937760"/>
            <a:ext cx="4846320" cy="155448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A8AEC9"/>
                </a:solidFill>
                <a:latin typeface="Calibri" pitchFamily="34" charset="0"/>
                <a:ea typeface="Calibri" pitchFamily="34" charset="-122"/>
                <a:cs typeface="Calibri" pitchFamily="34" charset="-120"/>
              </a:rPr>
              <a:t>Graphics, animation, combat resolution</a:t>
            </a:r>
            <a:endParaRPr lang="en-US" sz="1250" dirty="0"/>
          </a:p>
          <a:p>
            <a:pPr marL="342900" indent="-342900">
              <a:spcAft>
                <a:spcPts val="300"/>
              </a:spcAft>
              <a:buSzPct val="100000"/>
              <a:buChar char="▪"/>
            </a:pPr>
            <a:r>
              <a:rPr lang="en-US" sz="1250" dirty="0">
                <a:solidFill>
                  <a:srgbClr val="A8AEC9"/>
                </a:solidFill>
                <a:latin typeface="Calibri" pitchFamily="34" charset="0"/>
                <a:ea typeface="Calibri" pitchFamily="34" charset="-122"/>
                <a:cs typeface="Calibri" pitchFamily="34" charset="-120"/>
              </a:rPr>
              <a:t>Quest logic, story, NPC behaviour</a:t>
            </a:r>
            <a:endParaRPr lang="en-US" sz="1250" dirty="0"/>
          </a:p>
          <a:p>
            <a:pPr marL="342900" indent="-342900">
              <a:spcAft>
                <a:spcPts val="300"/>
              </a:spcAft>
              <a:buSzPct val="100000"/>
              <a:buChar char="▪"/>
            </a:pPr>
            <a:r>
              <a:rPr lang="en-US" sz="1250" dirty="0">
                <a:solidFill>
                  <a:srgbClr val="A8AEC9"/>
                </a:solidFill>
                <a:latin typeface="Calibri" pitchFamily="34" charset="0"/>
                <a:ea typeface="Calibri" pitchFamily="34" charset="-122"/>
                <a:cs typeface="Calibri" pitchFamily="34" charset="-120"/>
              </a:rPr>
              <a:t>Real-time multiplayer, matchmaking</a:t>
            </a:r>
            <a:endParaRPr lang="en-US" sz="1250" dirty="0"/>
          </a:p>
          <a:p>
            <a:pPr marL="342900" indent="-342900">
              <a:spcAft>
                <a:spcPts val="300"/>
              </a:spcAft>
              <a:buSzPct val="100000"/>
              <a:buChar char="▪"/>
            </a:pPr>
            <a:r>
              <a:rPr lang="en-US" sz="1250" dirty="0">
                <a:solidFill>
                  <a:srgbClr val="A8AEC9"/>
                </a:solidFill>
                <a:latin typeface="Calibri" pitchFamily="34" charset="0"/>
                <a:ea typeface="Calibri" pitchFamily="34" charset="-122"/>
                <a:cs typeface="Calibri" pitchFamily="34" charset="-120"/>
              </a:rPr>
              <a:t>Sound, art assets, the entire client</a:t>
            </a:r>
            <a:endParaRPr lang="en-US" sz="1250" dirty="0"/>
          </a:p>
        </p:txBody>
      </p:sp>
      <p:pic>
        <p:nvPicPr>
          <p:cNvPr id="23" name="Image 4" descr="preencoded.png"/>
          <p:cNvPicPr>
            <a:picLocks noChangeAspect="1"/>
          </p:cNvPicPr>
          <p:nvPr/>
        </p:nvPicPr>
        <p:blipFill>
          <a:blip r:embed="rId7"/>
          <a:stretch>
            <a:fillRect/>
          </a:stretch>
        </p:blipFill>
        <p:spPr>
          <a:xfrm>
            <a:off x="6172200" y="5074920"/>
            <a:ext cx="457200" cy="457200"/>
          </a:xfrm>
          <a:prstGeom prst="rect">
            <a:avLst/>
          </a:prstGeom>
        </p:spPr>
      </p:pic>
      <p:sp>
        <p:nvSpPr>
          <p:cNvPr id="24" name="Shape 17"/>
          <p:cNvSpPr/>
          <p:nvPr/>
        </p:nvSpPr>
        <p:spPr>
          <a:xfrm>
            <a:off x="6766560" y="3931920"/>
            <a:ext cx="4846320" cy="2606040"/>
          </a:xfrm>
          <a:prstGeom prst="roundRect">
            <a:avLst>
              <a:gd name="adj" fmla="val 2807"/>
            </a:avLst>
          </a:prstGeom>
          <a:solidFill>
            <a:srgbClr val="1F2547"/>
          </a:solidFill>
          <a:ln w="19050">
            <a:solidFill>
              <a:srgbClr val="8B7CF6"/>
            </a:solidFill>
            <a:prstDash val="solid"/>
          </a:ln>
        </p:spPr>
        <p:txBody>
          <a:bodyPr/>
          <a:lstStyle/>
          <a:p>
            <a:endParaRPr lang="tr-TR"/>
          </a:p>
        </p:txBody>
      </p:sp>
      <p:pic>
        <p:nvPicPr>
          <p:cNvPr id="25" name="Image 5" descr="preencoded.png"/>
          <p:cNvPicPr>
            <a:picLocks noChangeAspect="1"/>
          </p:cNvPicPr>
          <p:nvPr/>
        </p:nvPicPr>
        <p:blipFill>
          <a:blip r:embed="rId8"/>
          <a:stretch>
            <a:fillRect/>
          </a:stretch>
        </p:blipFill>
        <p:spPr>
          <a:xfrm>
            <a:off x="6995160" y="4114800"/>
            <a:ext cx="457200" cy="457200"/>
          </a:xfrm>
          <a:prstGeom prst="rect">
            <a:avLst/>
          </a:prstGeom>
        </p:spPr>
      </p:pic>
      <p:sp>
        <p:nvSpPr>
          <p:cNvPr id="26" name="Text 18"/>
          <p:cNvSpPr/>
          <p:nvPr/>
        </p:nvSpPr>
        <p:spPr>
          <a:xfrm>
            <a:off x="7589520" y="4114800"/>
            <a:ext cx="2743200" cy="320040"/>
          </a:xfrm>
          <a:prstGeom prst="rect">
            <a:avLst/>
          </a:prstGeom>
          <a:noFill/>
          <a:ln/>
        </p:spPr>
        <p:txBody>
          <a:bodyPr wrap="square" lIns="0" tIns="0" rIns="0" bIns="0" rtlCol="0" anchor="ctr"/>
          <a:lstStyle/>
          <a:p>
            <a:pPr marL="0" indent="0">
              <a:buNone/>
            </a:pPr>
            <a:r>
              <a:rPr lang="en-US" sz="1100" b="1" kern="0" spc="300" dirty="0">
                <a:solidFill>
                  <a:srgbClr val="8B7CF6"/>
                </a:solidFill>
                <a:latin typeface="Calibri" pitchFamily="34" charset="0"/>
                <a:ea typeface="Calibri" pitchFamily="34" charset="-122"/>
                <a:cs typeface="Calibri" pitchFamily="34" charset="-120"/>
              </a:rPr>
              <a:t>ON-CHAIN</a:t>
            </a:r>
            <a:endParaRPr lang="en-US" sz="1100" dirty="0"/>
          </a:p>
        </p:txBody>
      </p:sp>
      <p:sp>
        <p:nvSpPr>
          <p:cNvPr id="27" name="Text 19"/>
          <p:cNvSpPr/>
          <p:nvPr/>
        </p:nvSpPr>
        <p:spPr>
          <a:xfrm>
            <a:off x="7589520" y="4370832"/>
            <a:ext cx="3657600" cy="365760"/>
          </a:xfrm>
          <a:prstGeom prst="rect">
            <a:avLst/>
          </a:prstGeom>
          <a:noFill/>
          <a:ln/>
        </p:spPr>
        <p:txBody>
          <a:bodyPr wrap="square" lIns="0" tIns="0" rIns="0" bIns="0" rtlCol="0" anchor="ctr"/>
          <a:lstStyle/>
          <a:p>
            <a:pPr marL="0" indent="0">
              <a:buNone/>
            </a:pPr>
            <a:r>
              <a:rPr lang="en-US" sz="1800" b="1" dirty="0">
                <a:solidFill>
                  <a:srgbClr val="EDEEF7"/>
                </a:solidFill>
                <a:latin typeface="Georgia" pitchFamily="34" charset="0"/>
                <a:ea typeface="Georgia" pitchFamily="34" charset="-122"/>
                <a:cs typeface="Georgia" pitchFamily="34" charset="-120"/>
              </a:rPr>
              <a:t>This contract</a:t>
            </a:r>
            <a:endParaRPr lang="en-US" sz="1800" dirty="0"/>
          </a:p>
        </p:txBody>
      </p:sp>
      <p:sp>
        <p:nvSpPr>
          <p:cNvPr id="28" name="Text 20"/>
          <p:cNvSpPr/>
          <p:nvPr/>
        </p:nvSpPr>
        <p:spPr>
          <a:xfrm>
            <a:off x="7086600" y="4937760"/>
            <a:ext cx="4297680" cy="155448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A8AEC9"/>
                </a:solidFill>
                <a:latin typeface="Calibri" pitchFamily="34" charset="0"/>
                <a:ea typeface="Calibri" pitchFamily="34" charset="-122"/>
                <a:cs typeface="Calibri" pitchFamily="34" charset="-120"/>
              </a:rPr>
              <a:t>Item ownership records</a:t>
            </a:r>
            <a:endParaRPr lang="en-US" sz="1250" dirty="0"/>
          </a:p>
          <a:p>
            <a:pPr marL="342900" indent="-342900">
              <a:spcAft>
                <a:spcPts val="300"/>
              </a:spcAft>
              <a:buSzPct val="100000"/>
              <a:buChar char="▪"/>
            </a:pPr>
            <a:r>
              <a:rPr lang="en-US" sz="1250" dirty="0">
                <a:solidFill>
                  <a:srgbClr val="A8AEC9"/>
                </a:solidFill>
                <a:latin typeface="Calibri" pitchFamily="34" charset="0"/>
                <a:ea typeface="Calibri" pitchFamily="34" charset="-122"/>
                <a:cs typeface="Calibri" pitchFamily="34" charset="-120"/>
              </a:rPr>
              <a:t>Buy / sell / gift transactions</a:t>
            </a:r>
            <a:endParaRPr lang="en-US" sz="1250" dirty="0"/>
          </a:p>
          <a:p>
            <a:pPr marL="342900" indent="-342900">
              <a:spcAft>
                <a:spcPts val="300"/>
              </a:spcAft>
              <a:buSzPct val="100000"/>
              <a:buChar char="▪"/>
            </a:pPr>
            <a:r>
              <a:rPr lang="en-US" sz="1250" dirty="0">
                <a:solidFill>
                  <a:srgbClr val="A8AEC9"/>
                </a:solidFill>
                <a:latin typeface="Calibri" pitchFamily="34" charset="0"/>
                <a:ea typeface="Calibri" pitchFamily="34" charset="-122"/>
                <a:cs typeface="Calibri" pitchFamily="34" charset="-120"/>
              </a:rPr>
              <a:t>Marketplace listings and prices</a:t>
            </a:r>
            <a:endParaRPr lang="en-US" sz="1250" dirty="0"/>
          </a:p>
          <a:p>
            <a:pPr marL="342900" indent="-342900">
              <a:spcAft>
                <a:spcPts val="300"/>
              </a:spcAft>
              <a:buSzPct val="100000"/>
              <a:buChar char="▪"/>
            </a:pPr>
            <a:r>
              <a:rPr lang="en-US" sz="1250" dirty="0">
                <a:solidFill>
                  <a:srgbClr val="A8AEC9"/>
                </a:solidFill>
                <a:latin typeface="Calibri" pitchFamily="34" charset="0"/>
                <a:ea typeface="Calibri" pitchFamily="34" charset="-122"/>
                <a:cs typeface="Calibri" pitchFamily="34" charset="-120"/>
              </a:rPr>
              <a:t>Item stats — ATK, DEF, rarity</a:t>
            </a:r>
            <a:endParaRPr lang="en-US" sz="1250" dirty="0"/>
          </a:p>
        </p:txBody>
      </p:sp>
      <p:sp>
        <p:nvSpPr>
          <p:cNvPr id="29" name="Text 21"/>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6B7295"/>
                </a:solidFill>
                <a:latin typeface="Calibri" pitchFamily="34" charset="0"/>
                <a:ea typeface="Calibri" pitchFamily="34" charset="-122"/>
                <a:cs typeface="Calibri" pitchFamily="34" charset="-120"/>
              </a:rPr>
              <a:t>EtherQuest Marketplace</a:t>
            </a:r>
            <a:r>
              <a:rPr lang="en-US" sz="900" dirty="0">
                <a:solidFill>
                  <a:srgbClr val="6B7295"/>
                </a:solidFill>
              </a:rPr>
              <a:t>   |   </a:t>
            </a:r>
            <a:r>
              <a:rPr lang="en-US" sz="900" dirty="0">
                <a:solidFill>
                  <a:srgbClr val="6B7295"/>
                </a:solidFill>
                <a:latin typeface="Consolas" pitchFamily="34" charset="0"/>
                <a:ea typeface="Consolas" pitchFamily="34" charset="-122"/>
                <a:cs typeface="Consolas" pitchFamily="34" charset="-120"/>
              </a:rPr>
              <a:t>Sepolia: 0xEd3B...0dDa</a:t>
            </a:r>
            <a:endParaRPr lang="en-US" sz="900" dirty="0"/>
          </a:p>
        </p:txBody>
      </p:sp>
      <p:sp>
        <p:nvSpPr>
          <p:cNvPr id="30" name="Text 22"/>
          <p:cNvSpPr/>
          <p:nvPr/>
        </p:nvSpPr>
        <p:spPr>
          <a:xfrm>
            <a:off x="11091672" y="6492240"/>
            <a:ext cx="640080" cy="274320"/>
          </a:xfrm>
          <a:prstGeom prst="rect">
            <a:avLst/>
          </a:prstGeom>
          <a:noFill/>
          <a:ln/>
        </p:spPr>
        <p:txBody>
          <a:bodyPr wrap="square" lIns="0" tIns="0" rIns="0" bIns="0" rtlCol="0" anchor="ctr"/>
          <a:lstStyle/>
          <a:p>
            <a:pPr marL="0" indent="0" algn="r">
              <a:buNone/>
            </a:pPr>
            <a:r>
              <a:rPr lang="en-US" sz="900" dirty="0">
                <a:solidFill>
                  <a:srgbClr val="6B7295"/>
                </a:solidFill>
                <a:latin typeface="Calibri" pitchFamily="34" charset="0"/>
                <a:ea typeface="Calibri" pitchFamily="34" charset="-122"/>
                <a:cs typeface="Calibri" pitchFamily="34" charset="-120"/>
              </a:rPr>
              <a:t>4 / 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lIns="0" tIns="0" rIns="0" bIns="0" rtlCol="0" anchor="ctr"/>
          <a:lstStyle/>
          <a:p>
            <a:pPr marL="0" indent="0">
              <a:buNone/>
            </a:pPr>
            <a:r>
              <a:rPr lang="en-US" sz="3600" b="1" dirty="0">
                <a:solidFill>
                  <a:srgbClr val="EDEEF7"/>
                </a:solidFill>
                <a:latin typeface="Georgia" pitchFamily="34" charset="0"/>
                <a:ea typeface="Georgia" pitchFamily="34" charset="-122"/>
                <a:cs typeface="Georgia" pitchFamily="34" charset="-120"/>
              </a:rPr>
              <a:t>Smart Contract Logic</a:t>
            </a:r>
            <a:endParaRPr lang="en-US" sz="3600" dirty="0"/>
          </a:p>
        </p:txBody>
      </p:sp>
      <p:sp>
        <p:nvSpPr>
          <p:cNvPr id="3" name="Text 1"/>
          <p:cNvSpPr/>
          <p:nvPr/>
        </p:nvSpPr>
        <p:spPr>
          <a:xfrm>
            <a:off x="548640" y="914400"/>
            <a:ext cx="10972800" cy="365760"/>
          </a:xfrm>
          <a:prstGeom prst="rect">
            <a:avLst/>
          </a:prstGeom>
          <a:noFill/>
          <a:ln/>
        </p:spPr>
        <p:txBody>
          <a:bodyPr wrap="square" lIns="0" tIns="0" rIns="0" bIns="0" rtlCol="0" anchor="ctr"/>
          <a:lstStyle/>
          <a:p>
            <a:pPr marL="0" indent="0">
              <a:buNone/>
            </a:pPr>
            <a:r>
              <a:rPr lang="en-US" sz="1500" i="1" dirty="0">
                <a:solidFill>
                  <a:srgbClr val="A8AEC9"/>
                </a:solidFill>
                <a:latin typeface="Calibri" pitchFamily="34" charset="0"/>
                <a:ea typeface="Calibri" pitchFamily="34" charset="-122"/>
                <a:cs typeface="Calibri" pitchFamily="34" charset="-120"/>
              </a:rPr>
              <a:t>Three core functions handle the entire item lifecycle</a:t>
            </a:r>
            <a:endParaRPr lang="en-US" sz="1500" dirty="0"/>
          </a:p>
        </p:txBody>
      </p:sp>
      <p:sp>
        <p:nvSpPr>
          <p:cNvPr id="4" name="Shape 2"/>
          <p:cNvSpPr/>
          <p:nvPr/>
        </p:nvSpPr>
        <p:spPr>
          <a:xfrm>
            <a:off x="548640" y="1554480"/>
            <a:ext cx="6400800" cy="4572000"/>
          </a:xfrm>
          <a:prstGeom prst="roundRect">
            <a:avLst>
              <a:gd name="adj" fmla="val 1600"/>
            </a:avLst>
          </a:prstGeom>
          <a:solidFill>
            <a:srgbClr val="0D1226"/>
          </a:solidFill>
          <a:ln w="12700">
            <a:solidFill>
              <a:srgbClr val="2A3158"/>
            </a:solidFill>
            <a:prstDash val="solid"/>
          </a:ln>
        </p:spPr>
        <p:txBody>
          <a:bodyPr/>
          <a:lstStyle/>
          <a:p>
            <a:endParaRPr lang="tr-TR" dirty="0"/>
          </a:p>
        </p:txBody>
      </p:sp>
      <p:sp>
        <p:nvSpPr>
          <p:cNvPr id="5" name="Shape 3"/>
          <p:cNvSpPr/>
          <p:nvPr/>
        </p:nvSpPr>
        <p:spPr>
          <a:xfrm>
            <a:off x="548640" y="1554480"/>
            <a:ext cx="6400800" cy="365760"/>
          </a:xfrm>
          <a:prstGeom prst="rect">
            <a:avLst/>
          </a:prstGeom>
          <a:solidFill>
            <a:srgbClr val="1F2547"/>
          </a:solidFill>
          <a:ln/>
        </p:spPr>
        <p:txBody>
          <a:bodyPr/>
          <a:lstStyle/>
          <a:p>
            <a:endParaRPr lang="tr-TR"/>
          </a:p>
        </p:txBody>
      </p:sp>
      <p:sp>
        <p:nvSpPr>
          <p:cNvPr id="6" name="Text 4"/>
          <p:cNvSpPr/>
          <p:nvPr/>
        </p:nvSpPr>
        <p:spPr>
          <a:xfrm>
            <a:off x="777240" y="1554480"/>
            <a:ext cx="5486400" cy="365760"/>
          </a:xfrm>
          <a:prstGeom prst="rect">
            <a:avLst/>
          </a:prstGeom>
          <a:noFill/>
          <a:ln/>
        </p:spPr>
        <p:txBody>
          <a:bodyPr wrap="square" lIns="0" tIns="0" rIns="0" bIns="0" rtlCol="0" anchor="ctr"/>
          <a:lstStyle/>
          <a:p>
            <a:pPr marL="0" indent="0">
              <a:buNone/>
            </a:pPr>
            <a:r>
              <a:rPr lang="en-US" sz="1100" dirty="0">
                <a:solidFill>
                  <a:srgbClr val="A8AEC9"/>
                </a:solidFill>
                <a:latin typeface="Consolas" pitchFamily="34" charset="0"/>
                <a:ea typeface="Consolas" pitchFamily="34" charset="-122"/>
                <a:cs typeface="Consolas" pitchFamily="34" charset="-120"/>
              </a:rPr>
              <a:t>EtherQuestMarketplace.sol</a:t>
            </a:r>
            <a:endParaRPr lang="en-US" sz="1100" dirty="0"/>
          </a:p>
        </p:txBody>
      </p:sp>
      <p:sp>
        <p:nvSpPr>
          <p:cNvPr id="7" name="Shape 5"/>
          <p:cNvSpPr/>
          <p:nvPr/>
        </p:nvSpPr>
        <p:spPr>
          <a:xfrm>
            <a:off x="6629400" y="1673352"/>
            <a:ext cx="118872" cy="118872"/>
          </a:xfrm>
          <a:prstGeom prst="ellipse">
            <a:avLst/>
          </a:prstGeom>
          <a:solidFill>
            <a:srgbClr val="F87171"/>
          </a:solidFill>
          <a:ln/>
        </p:spPr>
        <p:txBody>
          <a:bodyPr/>
          <a:lstStyle/>
          <a:p>
            <a:endParaRPr lang="tr-TR"/>
          </a:p>
        </p:txBody>
      </p:sp>
      <p:sp>
        <p:nvSpPr>
          <p:cNvPr id="8" name="Shape 6"/>
          <p:cNvSpPr/>
          <p:nvPr/>
        </p:nvSpPr>
        <p:spPr>
          <a:xfrm>
            <a:off x="6793992" y="1673352"/>
            <a:ext cx="118872" cy="118872"/>
          </a:xfrm>
          <a:prstGeom prst="ellipse">
            <a:avLst/>
          </a:prstGeom>
          <a:solidFill>
            <a:srgbClr val="FBBF24"/>
          </a:solidFill>
          <a:ln/>
        </p:spPr>
        <p:txBody>
          <a:bodyPr/>
          <a:lstStyle/>
          <a:p>
            <a:endParaRPr lang="tr-TR"/>
          </a:p>
        </p:txBody>
      </p:sp>
      <p:sp>
        <p:nvSpPr>
          <p:cNvPr id="9" name="Shape 7"/>
          <p:cNvSpPr/>
          <p:nvPr/>
        </p:nvSpPr>
        <p:spPr>
          <a:xfrm>
            <a:off x="6958584" y="1673352"/>
            <a:ext cx="118872" cy="118872"/>
          </a:xfrm>
          <a:prstGeom prst="ellipse">
            <a:avLst/>
          </a:prstGeom>
          <a:solidFill>
            <a:srgbClr val="4ADE80"/>
          </a:solidFill>
          <a:ln/>
        </p:spPr>
        <p:txBody>
          <a:bodyPr/>
          <a:lstStyle/>
          <a:p>
            <a:endParaRPr lang="tr-TR"/>
          </a:p>
        </p:txBody>
      </p:sp>
      <p:sp>
        <p:nvSpPr>
          <p:cNvPr id="10" name="Text 8"/>
          <p:cNvSpPr/>
          <p:nvPr/>
        </p:nvSpPr>
        <p:spPr>
          <a:xfrm>
            <a:off x="653796" y="1940496"/>
            <a:ext cx="6035040" cy="4014216"/>
          </a:xfrm>
          <a:prstGeom prst="rect">
            <a:avLst/>
          </a:prstGeom>
          <a:noFill/>
          <a:ln/>
        </p:spPr>
        <p:txBody>
          <a:bodyPr wrap="square" lIns="0" tIns="0" rIns="0" bIns="0" rtlCol="0" anchor="t"/>
          <a:lstStyle/>
          <a:p>
            <a:pPr marL="0" indent="0">
              <a:buNone/>
            </a:pPr>
            <a:r>
              <a:rPr lang="en-US" sz="1150" dirty="0">
                <a:solidFill>
                  <a:srgbClr val="6B7295"/>
                </a:solidFill>
                <a:latin typeface="Consolas" pitchFamily="34" charset="0"/>
                <a:ea typeface="Consolas" pitchFamily="34" charset="-122"/>
                <a:cs typeface="Consolas" pitchFamily="34" charset="-120"/>
              </a:rPr>
              <a:t>// Player buys an item — payable, atomic</a:t>
            </a:r>
            <a:endParaRPr lang="en-US" sz="1150" dirty="0"/>
          </a:p>
          <a:p>
            <a:pPr marL="0" indent="0">
              <a:buNone/>
            </a:pPr>
            <a:r>
              <a:rPr lang="en-US" sz="1150" b="1" dirty="0">
                <a:solidFill>
                  <a:srgbClr val="C084FC"/>
                </a:solidFill>
                <a:latin typeface="Consolas" pitchFamily="34" charset="0"/>
                <a:ea typeface="Consolas" pitchFamily="34" charset="-122"/>
                <a:cs typeface="Consolas" pitchFamily="34" charset="-120"/>
              </a:rPr>
              <a:t>function </a:t>
            </a:r>
            <a:r>
              <a:rPr lang="en-US" sz="1150" dirty="0">
                <a:solidFill>
                  <a:srgbClr val="60A5FA"/>
                </a:solidFill>
                <a:latin typeface="Consolas" pitchFamily="34" charset="0"/>
                <a:ea typeface="Consolas" pitchFamily="34" charset="-122"/>
                <a:cs typeface="Consolas" pitchFamily="34" charset="-120"/>
              </a:rPr>
              <a:t>buyItem</a:t>
            </a:r>
            <a:r>
              <a:rPr lang="en-US" sz="1150" dirty="0">
                <a:solidFill>
                  <a:srgbClr val="EDEEF7"/>
                </a:solidFill>
                <a:latin typeface="Consolas" pitchFamily="34" charset="0"/>
                <a:ea typeface="Consolas" pitchFamily="34" charset="-122"/>
                <a:cs typeface="Consolas" pitchFamily="34" charset="-120"/>
              </a:rPr>
              <a:t>(uint256 _itemId) public payable {</a:t>
            </a:r>
            <a:endParaRPr lang="en-US" sz="1150" dirty="0"/>
          </a:p>
          <a:p>
            <a:pPr marL="0" indent="0">
              <a:buNone/>
            </a:pPr>
            <a:r>
              <a:rPr lang="en-US" sz="1150" dirty="0">
                <a:solidFill>
                  <a:srgbClr val="EDEEF7"/>
                </a:solidFill>
                <a:latin typeface="Consolas" pitchFamily="34" charset="0"/>
                <a:ea typeface="Consolas" pitchFamily="34" charset="-122"/>
                <a:cs typeface="Consolas" pitchFamily="34" charset="-120"/>
              </a:rPr>
              <a:t>    require(items[_itemId].forSale, </a:t>
            </a:r>
            <a:r>
              <a:rPr lang="en-US" sz="1150" dirty="0">
                <a:solidFill>
                  <a:srgbClr val="F4A261"/>
                </a:solidFill>
                <a:latin typeface="Consolas" pitchFamily="34" charset="0"/>
                <a:ea typeface="Consolas" pitchFamily="34" charset="-122"/>
                <a:cs typeface="Consolas" pitchFamily="34" charset="-120"/>
              </a:rPr>
              <a:t>"Not for sale"</a:t>
            </a:r>
            <a:r>
              <a:rPr lang="en-US" sz="1150" dirty="0">
                <a:solidFill>
                  <a:srgbClr val="EDEEF7"/>
                </a:solidFill>
                <a:latin typeface="Consolas" pitchFamily="34" charset="0"/>
                <a:ea typeface="Consolas" pitchFamily="34" charset="-122"/>
                <a:cs typeface="Consolas" pitchFamily="34" charset="-120"/>
              </a:rPr>
              <a:t>);</a:t>
            </a:r>
            <a:endParaRPr lang="en-US" sz="1150" dirty="0"/>
          </a:p>
          <a:p>
            <a:pPr marL="0" indent="0">
              <a:buNone/>
            </a:pPr>
            <a:r>
              <a:rPr lang="en-US" sz="1150" dirty="0">
                <a:solidFill>
                  <a:srgbClr val="EDEEF7"/>
                </a:solidFill>
                <a:latin typeface="Consolas" pitchFamily="34" charset="0"/>
                <a:ea typeface="Consolas" pitchFamily="34" charset="-122"/>
                <a:cs typeface="Consolas" pitchFamily="34" charset="-120"/>
              </a:rPr>
              <a:t>    require(msg.value &gt;= items[_itemId].price,</a:t>
            </a:r>
            <a:r>
              <a:rPr lang="en-US" sz="1150" dirty="0">
                <a:solidFill>
                  <a:srgbClr val="F4A261"/>
                </a:solidFill>
                <a:latin typeface="Consolas" pitchFamily="34" charset="0"/>
                <a:ea typeface="Consolas" pitchFamily="34" charset="-122"/>
                <a:cs typeface="Consolas" pitchFamily="34" charset="-120"/>
              </a:rPr>
              <a:t> "Insufficient ETH"</a:t>
            </a:r>
            <a:r>
              <a:rPr lang="en-US" sz="1150" dirty="0">
                <a:solidFill>
                  <a:srgbClr val="EDEEF7"/>
                </a:solidFill>
                <a:latin typeface="Consolas" pitchFamily="34" charset="0"/>
                <a:ea typeface="Consolas" pitchFamily="34" charset="-122"/>
                <a:cs typeface="Consolas" pitchFamily="34" charset="-120"/>
              </a:rPr>
              <a:t>);</a:t>
            </a:r>
            <a:endParaRPr lang="en-US" sz="1150" dirty="0"/>
          </a:p>
          <a:p>
            <a:pPr marL="0" indent="0">
              <a:buNone/>
            </a:pPr>
            <a:endParaRPr lang="en-US" sz="1150" dirty="0"/>
          </a:p>
          <a:p>
            <a:pPr marL="0" indent="0">
              <a:buNone/>
            </a:pPr>
            <a:r>
              <a:rPr lang="en-US" sz="1150" dirty="0">
                <a:solidFill>
                  <a:srgbClr val="EDEEF7"/>
                </a:solidFill>
                <a:latin typeface="Consolas" pitchFamily="34" charset="0"/>
                <a:ea typeface="Consolas" pitchFamily="34" charset="-122"/>
                <a:cs typeface="Consolas" pitchFamily="34" charset="-120"/>
              </a:rPr>
              <a:t>    address previousOwner = items[_itemId].owner;</a:t>
            </a:r>
            <a:endParaRPr lang="en-US" sz="1150" dirty="0"/>
          </a:p>
          <a:p>
            <a:pPr marL="0" indent="0">
              <a:buNone/>
            </a:pPr>
            <a:r>
              <a:rPr lang="en-US" sz="1150" dirty="0">
                <a:solidFill>
                  <a:srgbClr val="EDEEF7"/>
                </a:solidFill>
                <a:latin typeface="Consolas" pitchFamily="34" charset="0"/>
                <a:ea typeface="Consolas" pitchFamily="34" charset="-122"/>
                <a:cs typeface="Consolas" pitchFamily="34" charset="-120"/>
              </a:rPr>
              <a:t>    payable(previousOwner).transfer(msg.value);</a:t>
            </a:r>
            <a:endParaRPr lang="en-US" sz="1150" dirty="0"/>
          </a:p>
          <a:p>
            <a:pPr marL="0" indent="0">
              <a:buNone/>
            </a:pPr>
            <a:endParaRPr lang="en-US" sz="1150" dirty="0"/>
          </a:p>
          <a:p>
            <a:pPr marL="0" indent="0">
              <a:buNone/>
            </a:pPr>
            <a:r>
              <a:rPr lang="en-US" sz="1150" dirty="0">
                <a:solidFill>
                  <a:srgbClr val="EDEEF7"/>
                </a:solidFill>
                <a:latin typeface="Consolas" pitchFamily="34" charset="0"/>
                <a:ea typeface="Consolas" pitchFamily="34" charset="-122"/>
                <a:cs typeface="Consolas" pitchFamily="34" charset="-120"/>
              </a:rPr>
              <a:t>    items[_itemId].owner    = msg.sender;</a:t>
            </a:r>
            <a:endParaRPr lang="en-US" sz="1150" dirty="0"/>
          </a:p>
          <a:p>
            <a:pPr marL="0" indent="0">
              <a:buNone/>
            </a:pPr>
            <a:r>
              <a:rPr lang="en-US" sz="1150" dirty="0">
                <a:solidFill>
                  <a:srgbClr val="EDEEF7"/>
                </a:solidFill>
                <a:latin typeface="Consolas" pitchFamily="34" charset="0"/>
                <a:ea typeface="Consolas" pitchFamily="34" charset="-122"/>
                <a:cs typeface="Consolas" pitchFamily="34" charset="-120"/>
              </a:rPr>
              <a:t>    items[_itemId].forSale  = </a:t>
            </a:r>
            <a:r>
              <a:rPr lang="en-US" sz="1150" dirty="0">
                <a:solidFill>
                  <a:srgbClr val="C084FC"/>
                </a:solidFill>
                <a:latin typeface="Consolas" pitchFamily="34" charset="0"/>
                <a:ea typeface="Consolas" pitchFamily="34" charset="-122"/>
                <a:cs typeface="Consolas" pitchFamily="34" charset="-120"/>
              </a:rPr>
              <a:t>false</a:t>
            </a:r>
            <a:r>
              <a:rPr lang="en-US" sz="1150" dirty="0">
                <a:solidFill>
                  <a:srgbClr val="EDEEF7"/>
                </a:solidFill>
                <a:latin typeface="Consolas" pitchFamily="34" charset="0"/>
                <a:ea typeface="Consolas" pitchFamily="34" charset="-122"/>
                <a:cs typeface="Consolas" pitchFamily="34" charset="-120"/>
              </a:rPr>
              <a:t>;</a:t>
            </a:r>
            <a:endParaRPr lang="en-US" sz="1150" dirty="0"/>
          </a:p>
          <a:p>
            <a:pPr marL="0" indent="0">
              <a:buNone/>
            </a:pPr>
            <a:r>
              <a:rPr lang="en-US" sz="1150" dirty="0">
                <a:solidFill>
                  <a:srgbClr val="EDEEF7"/>
                </a:solidFill>
                <a:latin typeface="Consolas" pitchFamily="34" charset="0"/>
                <a:ea typeface="Consolas" pitchFamily="34" charset="-122"/>
                <a:cs typeface="Consolas" pitchFamily="34" charset="-120"/>
              </a:rPr>
              <a:t>    playerInventory[msg.sender].push(_itemId);</a:t>
            </a:r>
            <a:endParaRPr lang="en-US" sz="1150" dirty="0"/>
          </a:p>
          <a:p>
            <a:pPr marL="0" indent="0">
              <a:buNone/>
            </a:pPr>
            <a:r>
              <a:rPr lang="en-US" sz="1150" dirty="0">
                <a:solidFill>
                  <a:srgbClr val="EDEEF7"/>
                </a:solidFill>
                <a:latin typeface="Consolas" pitchFamily="34" charset="0"/>
                <a:ea typeface="Consolas" pitchFamily="34" charset="-122"/>
                <a:cs typeface="Consolas" pitchFamily="34" charset="-120"/>
              </a:rPr>
              <a:t>}</a:t>
            </a:r>
            <a:endParaRPr lang="tr-TR" sz="1150" dirty="0">
              <a:solidFill>
                <a:srgbClr val="EDEEF7"/>
              </a:solidFill>
              <a:latin typeface="Consolas" pitchFamily="34" charset="0"/>
              <a:ea typeface="Consolas" pitchFamily="34" charset="-122"/>
              <a:cs typeface="Consolas" pitchFamily="34" charset="-120"/>
            </a:endParaRPr>
          </a:p>
          <a:p>
            <a:pPr marL="0" indent="0">
              <a:buNone/>
            </a:pPr>
            <a:endParaRPr lang="tr-TR" sz="1150" dirty="0">
              <a:solidFill>
                <a:srgbClr val="EDEEF7"/>
              </a:solidFill>
              <a:latin typeface="Consolas" pitchFamily="34" charset="0"/>
            </a:endParaRPr>
          </a:p>
          <a:p>
            <a:r>
              <a:rPr lang="en-US" sz="1150" dirty="0">
                <a:solidFill>
                  <a:srgbClr val="6B7295"/>
                </a:solidFill>
                <a:latin typeface="Consolas" pitchFamily="34" charset="0"/>
                <a:ea typeface="Consolas" pitchFamily="34" charset="-122"/>
                <a:cs typeface="Consolas" pitchFamily="34" charset="-120"/>
              </a:rPr>
              <a:t>// Only the admin can mint — protects game balance</a:t>
            </a:r>
            <a:endParaRPr lang="tr-TR" sz="1150" dirty="0">
              <a:solidFill>
                <a:srgbClr val="6B7295"/>
              </a:solidFill>
              <a:latin typeface="Consolas" pitchFamily="34" charset="0"/>
              <a:ea typeface="Consolas" pitchFamily="34" charset="-122"/>
              <a:cs typeface="Consolas" pitchFamily="34" charset="-120"/>
            </a:endParaRPr>
          </a:p>
          <a:p>
            <a:r>
              <a:rPr lang="en-US" sz="1150" b="1" dirty="0">
                <a:solidFill>
                  <a:srgbClr val="C084FC"/>
                </a:solidFill>
                <a:latin typeface="Consolas" pitchFamily="34" charset="0"/>
                <a:ea typeface="Consolas" pitchFamily="34" charset="-122"/>
                <a:cs typeface="Consolas" pitchFamily="34" charset="-120"/>
              </a:rPr>
              <a:t>function </a:t>
            </a:r>
            <a:r>
              <a:rPr lang="tr-TR" sz="1150" b="1" dirty="0" err="1">
                <a:solidFill>
                  <a:srgbClr val="60A5FA"/>
                </a:solidFill>
                <a:latin typeface="Consolas" pitchFamily="34" charset="0"/>
                <a:ea typeface="Consolas" pitchFamily="34" charset="-122"/>
                <a:cs typeface="Consolas" pitchFamily="34" charset="-120"/>
              </a:rPr>
              <a:t>create</a:t>
            </a:r>
            <a:r>
              <a:rPr lang="en-US" sz="1150" dirty="0">
                <a:solidFill>
                  <a:srgbClr val="60A5FA"/>
                </a:solidFill>
                <a:latin typeface="Consolas" pitchFamily="34" charset="0"/>
                <a:ea typeface="Consolas" pitchFamily="34" charset="-122"/>
                <a:cs typeface="Consolas" pitchFamily="34" charset="-120"/>
              </a:rPr>
              <a:t>Item</a:t>
            </a:r>
            <a:r>
              <a:rPr lang="en-US" sz="1150" dirty="0">
                <a:solidFill>
                  <a:srgbClr val="EDEEF7"/>
                </a:solidFill>
                <a:latin typeface="Consolas" pitchFamily="34" charset="0"/>
                <a:ea typeface="Consolas" pitchFamily="34" charset="-122"/>
                <a:cs typeface="Consolas" pitchFamily="34" charset="-120"/>
              </a:rPr>
              <a:t>(</a:t>
            </a:r>
            <a:endParaRPr lang="en-US" sz="1150" dirty="0"/>
          </a:p>
          <a:p>
            <a:r>
              <a:rPr lang="tr-TR" sz="1150" dirty="0">
                <a:solidFill>
                  <a:srgbClr val="F4A261"/>
                </a:solidFill>
                <a:latin typeface="Consolas" pitchFamily="34" charset="0"/>
                <a:ea typeface="Consolas" pitchFamily="34" charset="-122"/>
                <a:cs typeface="Consolas" pitchFamily="34" charset="-120"/>
              </a:rPr>
              <a:t>    </a:t>
            </a:r>
            <a:r>
              <a:rPr lang="tr-TR" sz="1150" dirty="0" err="1">
                <a:solidFill>
                  <a:srgbClr val="F4A261"/>
                </a:solidFill>
                <a:latin typeface="Consolas" pitchFamily="34" charset="0"/>
                <a:ea typeface="Consolas" pitchFamily="34" charset="-122"/>
                <a:cs typeface="Consolas" pitchFamily="34" charset="-120"/>
              </a:rPr>
              <a:t>string</a:t>
            </a:r>
            <a:r>
              <a:rPr lang="tr-TR" sz="1150" dirty="0">
                <a:solidFill>
                  <a:srgbClr val="F4A261"/>
                </a:solidFill>
                <a:latin typeface="Consolas" pitchFamily="34" charset="0"/>
                <a:ea typeface="Consolas" pitchFamily="34" charset="-122"/>
                <a:cs typeface="Consolas" pitchFamily="34" charset="-120"/>
              </a:rPr>
              <a:t> </a:t>
            </a:r>
            <a:r>
              <a:rPr lang="tr-TR" sz="1150" dirty="0" err="1">
                <a:solidFill>
                  <a:srgbClr val="C084FC"/>
                </a:solidFill>
                <a:latin typeface="Consolas" pitchFamily="34" charset="0"/>
                <a:ea typeface="Consolas" pitchFamily="34" charset="-122"/>
                <a:cs typeface="Consolas" pitchFamily="34" charset="-120"/>
              </a:rPr>
              <a:t>memory</a:t>
            </a:r>
            <a:r>
              <a:rPr lang="tr-TR" sz="1150" dirty="0">
                <a:solidFill>
                  <a:srgbClr val="C084FC"/>
                </a:solidFill>
                <a:latin typeface="Consolas" pitchFamily="34" charset="0"/>
                <a:ea typeface="Consolas" pitchFamily="34" charset="-122"/>
                <a:cs typeface="Consolas" pitchFamily="34" charset="-120"/>
              </a:rPr>
              <a:t> </a:t>
            </a:r>
            <a:r>
              <a:rPr lang="tr-TR" sz="1150" dirty="0">
                <a:solidFill>
                  <a:srgbClr val="EDEEF7"/>
                </a:solidFill>
                <a:latin typeface="Consolas" pitchFamily="34" charset="0"/>
                <a:ea typeface="Consolas" pitchFamily="34" charset="-122"/>
                <a:cs typeface="Consolas" pitchFamily="34" charset="-120"/>
              </a:rPr>
              <a:t>_name, </a:t>
            </a:r>
            <a:r>
              <a:rPr lang="tr-TR" sz="1150" dirty="0" err="1">
                <a:solidFill>
                  <a:srgbClr val="F4A261"/>
                </a:solidFill>
                <a:latin typeface="Consolas" pitchFamily="34" charset="0"/>
                <a:ea typeface="Consolas" pitchFamily="34" charset="-122"/>
                <a:cs typeface="Consolas" pitchFamily="34" charset="-120"/>
              </a:rPr>
              <a:t>string</a:t>
            </a:r>
            <a:r>
              <a:rPr lang="tr-TR" sz="1150" dirty="0">
                <a:solidFill>
                  <a:srgbClr val="F4A261"/>
                </a:solidFill>
                <a:latin typeface="Consolas" pitchFamily="34" charset="0"/>
                <a:ea typeface="Consolas" pitchFamily="34" charset="-122"/>
                <a:cs typeface="Consolas" pitchFamily="34" charset="-120"/>
              </a:rPr>
              <a:t> </a:t>
            </a:r>
            <a:r>
              <a:rPr lang="tr-TR" sz="1150" dirty="0" err="1">
                <a:solidFill>
                  <a:srgbClr val="C084FC"/>
                </a:solidFill>
                <a:latin typeface="Consolas" pitchFamily="34" charset="0"/>
                <a:ea typeface="Consolas" pitchFamily="34" charset="-122"/>
                <a:cs typeface="Consolas" pitchFamily="34" charset="-120"/>
              </a:rPr>
              <a:t>memory</a:t>
            </a:r>
            <a:r>
              <a:rPr lang="tr-TR" sz="1150" dirty="0">
                <a:solidFill>
                  <a:srgbClr val="C084FC"/>
                </a:solidFill>
                <a:latin typeface="Consolas" pitchFamily="34" charset="0"/>
                <a:ea typeface="Consolas" pitchFamily="34" charset="-122"/>
                <a:cs typeface="Consolas" pitchFamily="34" charset="-120"/>
              </a:rPr>
              <a:t> </a:t>
            </a:r>
            <a:r>
              <a:rPr lang="tr-TR" sz="1150" dirty="0">
                <a:solidFill>
                  <a:srgbClr val="EDEEF7"/>
                </a:solidFill>
                <a:latin typeface="Consolas" pitchFamily="34" charset="0"/>
                <a:ea typeface="Consolas" pitchFamily="34" charset="-122"/>
                <a:cs typeface="Consolas" pitchFamily="34" charset="-120"/>
              </a:rPr>
              <a:t>_</a:t>
            </a:r>
            <a:r>
              <a:rPr lang="tr-TR" sz="1150" dirty="0" err="1">
                <a:solidFill>
                  <a:srgbClr val="EDEEF7"/>
                </a:solidFill>
                <a:latin typeface="Consolas" pitchFamily="34" charset="0"/>
                <a:ea typeface="Consolas" pitchFamily="34" charset="-122"/>
                <a:cs typeface="Consolas" pitchFamily="34" charset="-120"/>
              </a:rPr>
              <a:t>itemType</a:t>
            </a:r>
            <a:r>
              <a:rPr lang="tr-TR" sz="1150" dirty="0">
                <a:solidFill>
                  <a:srgbClr val="EDEEF7"/>
                </a:solidFill>
                <a:latin typeface="Consolas" pitchFamily="34" charset="0"/>
                <a:ea typeface="Consolas" pitchFamily="34" charset="-122"/>
                <a:cs typeface="Consolas" pitchFamily="34" charset="-120"/>
              </a:rPr>
              <a:t>,</a:t>
            </a:r>
            <a:endParaRPr lang="en-US" sz="1150" dirty="0"/>
          </a:p>
          <a:p>
            <a:r>
              <a:rPr lang="en-US" sz="1150" dirty="0">
                <a:solidFill>
                  <a:srgbClr val="EDEEF7"/>
                </a:solidFill>
                <a:latin typeface="Consolas" pitchFamily="34" charset="0"/>
                <a:ea typeface="Consolas" pitchFamily="34" charset="-122"/>
                <a:cs typeface="Consolas" pitchFamily="34" charset="-120"/>
              </a:rPr>
              <a:t>    </a:t>
            </a:r>
            <a:r>
              <a:rPr lang="tr-TR" sz="1150" dirty="0" err="1">
                <a:solidFill>
                  <a:srgbClr val="F4A261"/>
                </a:solidFill>
                <a:latin typeface="Consolas" pitchFamily="34" charset="0"/>
                <a:ea typeface="Consolas" pitchFamily="34" charset="-122"/>
                <a:cs typeface="Consolas" pitchFamily="34" charset="-120"/>
              </a:rPr>
              <a:t>string</a:t>
            </a:r>
            <a:r>
              <a:rPr lang="tr-TR" sz="1150" dirty="0">
                <a:solidFill>
                  <a:srgbClr val="F4A261"/>
                </a:solidFill>
                <a:latin typeface="Consolas" pitchFamily="34" charset="0"/>
                <a:ea typeface="Consolas" pitchFamily="34" charset="-122"/>
                <a:cs typeface="Consolas" pitchFamily="34" charset="-120"/>
              </a:rPr>
              <a:t> </a:t>
            </a:r>
            <a:r>
              <a:rPr lang="tr-TR" sz="1150" dirty="0" err="1">
                <a:solidFill>
                  <a:srgbClr val="C084FC"/>
                </a:solidFill>
                <a:latin typeface="Consolas" pitchFamily="34" charset="0"/>
                <a:ea typeface="Consolas" pitchFamily="34" charset="-122"/>
                <a:cs typeface="Consolas" pitchFamily="34" charset="-120"/>
              </a:rPr>
              <a:t>memory</a:t>
            </a:r>
            <a:r>
              <a:rPr lang="tr-TR" sz="1150" dirty="0">
                <a:solidFill>
                  <a:srgbClr val="C084FC"/>
                </a:solidFill>
                <a:latin typeface="Consolas" pitchFamily="34" charset="0"/>
                <a:ea typeface="Consolas" pitchFamily="34" charset="-122"/>
                <a:cs typeface="Consolas" pitchFamily="34" charset="-120"/>
              </a:rPr>
              <a:t> </a:t>
            </a:r>
            <a:r>
              <a:rPr lang="tr-TR" sz="1150" dirty="0">
                <a:solidFill>
                  <a:srgbClr val="EDEEF7"/>
                </a:solidFill>
                <a:latin typeface="Consolas" pitchFamily="34" charset="0"/>
                <a:ea typeface="Consolas" pitchFamily="34" charset="-122"/>
                <a:cs typeface="Consolas" pitchFamily="34" charset="-120"/>
              </a:rPr>
              <a:t>_</a:t>
            </a:r>
            <a:r>
              <a:rPr lang="tr-TR" sz="1150" dirty="0" err="1">
                <a:solidFill>
                  <a:srgbClr val="EDEEF7"/>
                </a:solidFill>
                <a:latin typeface="Consolas" pitchFamily="34" charset="0"/>
                <a:ea typeface="Consolas" pitchFamily="34" charset="-122"/>
                <a:cs typeface="Consolas" pitchFamily="34" charset="-120"/>
              </a:rPr>
              <a:t>rarity</a:t>
            </a:r>
            <a:r>
              <a:rPr lang="tr-TR" sz="1150" dirty="0">
                <a:solidFill>
                  <a:srgbClr val="EDEEF7"/>
                </a:solidFill>
                <a:latin typeface="Consolas" pitchFamily="34" charset="0"/>
                <a:ea typeface="Consolas" pitchFamily="34" charset="-122"/>
                <a:cs typeface="Consolas" pitchFamily="34" charset="-120"/>
              </a:rPr>
              <a:t>, </a:t>
            </a:r>
            <a:r>
              <a:rPr lang="tr-TR" sz="1150" dirty="0">
                <a:solidFill>
                  <a:srgbClr val="F4A261"/>
                </a:solidFill>
                <a:latin typeface="Consolas" pitchFamily="34" charset="0"/>
                <a:ea typeface="Consolas" pitchFamily="34" charset="-122"/>
                <a:cs typeface="Consolas" pitchFamily="34" charset="-120"/>
              </a:rPr>
              <a:t>uint256 </a:t>
            </a:r>
            <a:r>
              <a:rPr lang="tr-TR" sz="1150" dirty="0">
                <a:solidFill>
                  <a:srgbClr val="EDEEF7"/>
                </a:solidFill>
                <a:latin typeface="Consolas" pitchFamily="34" charset="0"/>
                <a:ea typeface="Consolas" pitchFamily="34" charset="-122"/>
                <a:cs typeface="Consolas" pitchFamily="34" charset="-120"/>
              </a:rPr>
              <a:t>_</a:t>
            </a:r>
            <a:r>
              <a:rPr lang="tr-TR" sz="1150" dirty="0" err="1">
                <a:solidFill>
                  <a:srgbClr val="EDEEF7"/>
                </a:solidFill>
                <a:latin typeface="Consolas" pitchFamily="34" charset="0"/>
                <a:ea typeface="Consolas" pitchFamily="34" charset="-122"/>
                <a:cs typeface="Consolas" pitchFamily="34" charset="-120"/>
              </a:rPr>
              <a:t>attackPower</a:t>
            </a:r>
            <a:r>
              <a:rPr lang="tr-TR" sz="1150" dirty="0">
                <a:solidFill>
                  <a:srgbClr val="EDEEF7"/>
                </a:solidFill>
                <a:latin typeface="Consolas" pitchFamily="34" charset="0"/>
                <a:ea typeface="Consolas" pitchFamily="34" charset="-122"/>
                <a:cs typeface="Consolas" pitchFamily="34" charset="-120"/>
              </a:rPr>
              <a:t>,</a:t>
            </a:r>
          </a:p>
          <a:p>
            <a:r>
              <a:rPr lang="tr-TR" sz="1150" dirty="0">
                <a:solidFill>
                  <a:srgbClr val="F4A261"/>
                </a:solidFill>
                <a:latin typeface="Consolas" pitchFamily="34" charset="0"/>
                <a:ea typeface="Consolas" pitchFamily="34" charset="-122"/>
                <a:cs typeface="Consolas" pitchFamily="34" charset="-120"/>
              </a:rPr>
              <a:t>    uint256 </a:t>
            </a:r>
            <a:r>
              <a:rPr lang="tr-TR" sz="1150" dirty="0">
                <a:solidFill>
                  <a:srgbClr val="EDEEF7"/>
                </a:solidFill>
                <a:latin typeface="Consolas" pitchFamily="34" charset="0"/>
                <a:ea typeface="Consolas" pitchFamily="34" charset="-122"/>
                <a:cs typeface="Consolas" pitchFamily="34" charset="-120"/>
              </a:rPr>
              <a:t>_</a:t>
            </a:r>
            <a:r>
              <a:rPr lang="tr-TR" sz="1150" dirty="0" err="1">
                <a:solidFill>
                  <a:srgbClr val="EDEEF7"/>
                </a:solidFill>
                <a:latin typeface="Consolas" pitchFamily="34" charset="0"/>
                <a:ea typeface="Consolas" pitchFamily="34" charset="-122"/>
                <a:cs typeface="Consolas" pitchFamily="34" charset="-120"/>
              </a:rPr>
              <a:t>defensePower</a:t>
            </a:r>
            <a:r>
              <a:rPr lang="tr-TR" sz="1150" dirty="0">
                <a:solidFill>
                  <a:srgbClr val="EDEEF7"/>
                </a:solidFill>
                <a:latin typeface="Consolas" pitchFamily="34" charset="0"/>
                <a:ea typeface="Consolas" pitchFamily="34" charset="-122"/>
                <a:cs typeface="Consolas" pitchFamily="34" charset="-120"/>
              </a:rPr>
              <a:t>, </a:t>
            </a:r>
            <a:r>
              <a:rPr lang="tr-TR" sz="1150" dirty="0">
                <a:solidFill>
                  <a:srgbClr val="F4A261"/>
                </a:solidFill>
                <a:latin typeface="Consolas" pitchFamily="34" charset="0"/>
                <a:ea typeface="Consolas" pitchFamily="34" charset="-122"/>
                <a:cs typeface="Consolas" pitchFamily="34" charset="-120"/>
              </a:rPr>
              <a:t>uint256 </a:t>
            </a:r>
            <a:r>
              <a:rPr lang="tr-TR" sz="1150" dirty="0">
                <a:solidFill>
                  <a:srgbClr val="EDEEF7"/>
                </a:solidFill>
                <a:latin typeface="Consolas" pitchFamily="34" charset="0"/>
                <a:ea typeface="Consolas" pitchFamily="34" charset="-122"/>
                <a:cs typeface="Consolas" pitchFamily="34" charset="-120"/>
              </a:rPr>
              <a:t>_</a:t>
            </a:r>
            <a:r>
              <a:rPr lang="tr-TR" sz="1150" dirty="0" err="1">
                <a:solidFill>
                  <a:srgbClr val="EDEEF7"/>
                </a:solidFill>
                <a:latin typeface="Consolas" pitchFamily="34" charset="0"/>
                <a:ea typeface="Consolas" pitchFamily="34" charset="-122"/>
                <a:cs typeface="Consolas" pitchFamily="34" charset="-120"/>
              </a:rPr>
              <a:t>price</a:t>
            </a:r>
            <a:endParaRPr lang="en-US" sz="1150" dirty="0"/>
          </a:p>
          <a:p>
            <a:r>
              <a:rPr lang="tr-TR" sz="1150" dirty="0">
                <a:solidFill>
                  <a:srgbClr val="EDEEF7"/>
                </a:solidFill>
                <a:latin typeface="Consolas" pitchFamily="34" charset="0"/>
                <a:ea typeface="Consolas" pitchFamily="34" charset="-122"/>
                <a:cs typeface="Consolas" pitchFamily="34" charset="-120"/>
              </a:rPr>
              <a:t> ) </a:t>
            </a:r>
            <a:r>
              <a:rPr lang="tr-TR" sz="1150" b="1" dirty="0" err="1">
                <a:solidFill>
                  <a:srgbClr val="C084FC"/>
                </a:solidFill>
                <a:latin typeface="Consolas" pitchFamily="34" charset="0"/>
                <a:ea typeface="Consolas" pitchFamily="34" charset="-122"/>
                <a:cs typeface="Consolas" pitchFamily="34" charset="-120"/>
              </a:rPr>
              <a:t>public</a:t>
            </a:r>
            <a:r>
              <a:rPr lang="tr-TR" sz="1150" b="1" dirty="0">
                <a:solidFill>
                  <a:srgbClr val="C084FC"/>
                </a:solidFill>
                <a:latin typeface="Consolas" pitchFamily="34" charset="0"/>
                <a:ea typeface="Consolas" pitchFamily="34" charset="-122"/>
                <a:cs typeface="Consolas" pitchFamily="34" charset="-120"/>
              </a:rPr>
              <a:t> {</a:t>
            </a:r>
          </a:p>
          <a:p>
            <a:r>
              <a:rPr lang="tr-TR" sz="1150" b="1" dirty="0">
                <a:solidFill>
                  <a:srgbClr val="C084FC"/>
                </a:solidFill>
                <a:latin typeface="Consolas" pitchFamily="34" charset="0"/>
              </a:rPr>
              <a:t>    </a:t>
            </a:r>
            <a:r>
              <a:rPr lang="tr-TR" sz="1150" b="1" dirty="0" err="1">
                <a:solidFill>
                  <a:srgbClr val="C084FC"/>
                </a:solidFill>
                <a:latin typeface="Consolas" pitchFamily="34" charset="0"/>
              </a:rPr>
              <a:t>require</a:t>
            </a:r>
            <a:r>
              <a:rPr lang="tr-TR" sz="1150" b="1" dirty="0">
                <a:solidFill>
                  <a:srgbClr val="C084FC"/>
                </a:solidFill>
                <a:latin typeface="Consolas" pitchFamily="34" charset="0"/>
              </a:rPr>
              <a:t>(</a:t>
            </a:r>
            <a:r>
              <a:rPr lang="en-US" sz="1150" dirty="0">
                <a:solidFill>
                  <a:srgbClr val="EDEEF7"/>
                </a:solidFill>
                <a:latin typeface="Consolas" pitchFamily="34" charset="0"/>
                <a:ea typeface="Consolas" pitchFamily="34" charset="-122"/>
                <a:cs typeface="Consolas" pitchFamily="34" charset="-120"/>
              </a:rPr>
              <a:t>msg</a:t>
            </a:r>
            <a:r>
              <a:rPr lang="tr-TR" sz="1150" dirty="0">
                <a:solidFill>
                  <a:srgbClr val="EDEEF7"/>
                </a:solidFill>
                <a:latin typeface="Consolas" pitchFamily="34" charset="0"/>
                <a:ea typeface="Consolas" pitchFamily="34" charset="-122"/>
                <a:cs typeface="Consolas" pitchFamily="34" charset="-120"/>
              </a:rPr>
              <a:t>.</a:t>
            </a:r>
            <a:r>
              <a:rPr lang="tr-TR" sz="1150" dirty="0" err="1">
                <a:solidFill>
                  <a:srgbClr val="EDEEF7"/>
                </a:solidFill>
                <a:latin typeface="Consolas" pitchFamily="34" charset="0"/>
                <a:ea typeface="Consolas" pitchFamily="34" charset="-122"/>
                <a:cs typeface="Consolas" pitchFamily="34" charset="-120"/>
              </a:rPr>
              <a:t>sender</a:t>
            </a:r>
            <a:r>
              <a:rPr lang="tr-TR" sz="1150" dirty="0">
                <a:solidFill>
                  <a:srgbClr val="EDEEF7"/>
                </a:solidFill>
                <a:latin typeface="Consolas" pitchFamily="34" charset="0"/>
                <a:ea typeface="Consolas" pitchFamily="34" charset="-122"/>
                <a:cs typeface="Consolas" pitchFamily="34" charset="-120"/>
              </a:rPr>
              <a:t> == </a:t>
            </a:r>
            <a:r>
              <a:rPr lang="tr-TR" sz="1150" dirty="0" err="1">
                <a:solidFill>
                  <a:srgbClr val="EDEEF7"/>
                </a:solidFill>
                <a:latin typeface="Consolas" pitchFamily="34" charset="0"/>
                <a:ea typeface="Consolas" pitchFamily="34" charset="-122"/>
                <a:cs typeface="Consolas" pitchFamily="34" charset="-120"/>
              </a:rPr>
              <a:t>gameAdmin</a:t>
            </a:r>
            <a:r>
              <a:rPr lang="tr-TR" sz="1150" dirty="0">
                <a:solidFill>
                  <a:srgbClr val="EDEEF7"/>
                </a:solidFill>
                <a:latin typeface="Consolas" pitchFamily="34" charset="0"/>
                <a:ea typeface="Consolas" pitchFamily="34" charset="-122"/>
                <a:cs typeface="Consolas" pitchFamily="34" charset="-120"/>
              </a:rPr>
              <a:t>, </a:t>
            </a:r>
            <a:r>
              <a:rPr lang="tr-TR" sz="1150" dirty="0">
                <a:solidFill>
                  <a:srgbClr val="00B050"/>
                </a:solidFill>
                <a:latin typeface="Consolas" pitchFamily="34" charset="0"/>
                <a:ea typeface="Consolas" pitchFamily="34" charset="-122"/>
                <a:cs typeface="Consolas" pitchFamily="34" charset="-120"/>
              </a:rPr>
              <a:t>«</a:t>
            </a:r>
            <a:r>
              <a:rPr lang="tr-TR" sz="1150" dirty="0" err="1">
                <a:solidFill>
                  <a:srgbClr val="00B050"/>
                </a:solidFill>
                <a:latin typeface="Consolas" pitchFamily="34" charset="0"/>
                <a:ea typeface="Consolas" pitchFamily="34" charset="-122"/>
                <a:cs typeface="Consolas" pitchFamily="34" charset="-120"/>
              </a:rPr>
              <a:t>Only</a:t>
            </a:r>
            <a:r>
              <a:rPr lang="tr-TR" sz="1150" dirty="0">
                <a:solidFill>
                  <a:srgbClr val="00B050"/>
                </a:solidFill>
                <a:latin typeface="Consolas" pitchFamily="34" charset="0"/>
                <a:ea typeface="Consolas" pitchFamily="34" charset="-122"/>
                <a:cs typeface="Consolas" pitchFamily="34" charset="-120"/>
              </a:rPr>
              <a:t> admin»</a:t>
            </a:r>
            <a:r>
              <a:rPr lang="tr-TR" sz="1150" dirty="0">
                <a:solidFill>
                  <a:srgbClr val="EDEEF7"/>
                </a:solidFill>
                <a:latin typeface="Consolas" pitchFamily="34" charset="0"/>
                <a:ea typeface="Consolas" pitchFamily="34" charset="-122"/>
                <a:cs typeface="Consolas" pitchFamily="34" charset="-120"/>
              </a:rPr>
              <a:t>);</a:t>
            </a:r>
          </a:p>
          <a:p>
            <a:r>
              <a:rPr lang="tr-TR" sz="1150" dirty="0">
                <a:solidFill>
                  <a:srgbClr val="EDEEF7"/>
                </a:solidFill>
                <a:latin typeface="Consolas" pitchFamily="34" charset="0"/>
              </a:rPr>
              <a:t>    </a:t>
            </a:r>
            <a:r>
              <a:rPr lang="tr-TR" sz="1150" dirty="0" err="1">
                <a:solidFill>
                  <a:srgbClr val="EDEEF7"/>
                </a:solidFill>
                <a:latin typeface="Consolas" pitchFamily="34" charset="0"/>
              </a:rPr>
              <a:t>items</a:t>
            </a:r>
            <a:r>
              <a:rPr lang="tr-TR" sz="1150" dirty="0">
                <a:solidFill>
                  <a:srgbClr val="EDEEF7"/>
                </a:solidFill>
                <a:latin typeface="Consolas" pitchFamily="34" charset="0"/>
              </a:rPr>
              <a:t>[</a:t>
            </a:r>
            <a:r>
              <a:rPr lang="tr-TR" sz="1150" dirty="0" err="1">
                <a:solidFill>
                  <a:srgbClr val="EDEEF7"/>
                </a:solidFill>
                <a:latin typeface="Consolas" pitchFamily="34" charset="0"/>
              </a:rPr>
              <a:t>nextItemId</a:t>
            </a:r>
            <a:r>
              <a:rPr lang="tr-TR" sz="1150" dirty="0">
                <a:solidFill>
                  <a:srgbClr val="EDEEF7"/>
                </a:solidFill>
                <a:latin typeface="Consolas" pitchFamily="34" charset="0"/>
              </a:rPr>
              <a:t>] = </a:t>
            </a:r>
            <a:r>
              <a:rPr lang="en-US" sz="1150" dirty="0">
                <a:solidFill>
                  <a:srgbClr val="60A5FA"/>
                </a:solidFill>
                <a:latin typeface="Consolas" pitchFamily="34" charset="0"/>
                <a:ea typeface="Consolas" pitchFamily="34" charset="-122"/>
                <a:cs typeface="Consolas" pitchFamily="34" charset="-120"/>
              </a:rPr>
              <a:t>Item</a:t>
            </a:r>
            <a:r>
              <a:rPr lang="tr-TR" sz="1150" dirty="0">
                <a:solidFill>
                  <a:srgbClr val="60A5FA"/>
                </a:solidFill>
                <a:latin typeface="Consolas" pitchFamily="34" charset="0"/>
                <a:ea typeface="Consolas" pitchFamily="34" charset="-122"/>
                <a:cs typeface="Consolas" pitchFamily="34" charset="-120"/>
              </a:rPr>
              <a:t>({ … });</a:t>
            </a:r>
          </a:p>
          <a:p>
            <a:r>
              <a:rPr lang="tr-TR" sz="1150" dirty="0">
                <a:solidFill>
                  <a:srgbClr val="60A5FA"/>
                </a:solidFill>
                <a:latin typeface="Consolas" pitchFamily="34" charset="0"/>
              </a:rPr>
              <a:t>    </a:t>
            </a:r>
            <a:r>
              <a:rPr lang="tr-TR" sz="1150" dirty="0" err="1">
                <a:solidFill>
                  <a:srgbClr val="EDEEF7"/>
                </a:solidFill>
                <a:latin typeface="Consolas" pitchFamily="34" charset="0"/>
              </a:rPr>
              <a:t>playerInventory</a:t>
            </a:r>
            <a:r>
              <a:rPr lang="tr-TR" sz="1150" dirty="0">
                <a:solidFill>
                  <a:srgbClr val="EDEEF7"/>
                </a:solidFill>
                <a:latin typeface="Consolas" pitchFamily="34" charset="0"/>
              </a:rPr>
              <a:t>[</a:t>
            </a:r>
            <a:r>
              <a:rPr lang="tr-TR" sz="1150" dirty="0" err="1">
                <a:solidFill>
                  <a:srgbClr val="EDEEF7"/>
                </a:solidFill>
                <a:latin typeface="Consolas" pitchFamily="34" charset="0"/>
              </a:rPr>
              <a:t>gameAdmin</a:t>
            </a:r>
            <a:r>
              <a:rPr lang="tr-TR" sz="1150" dirty="0">
                <a:solidFill>
                  <a:srgbClr val="EDEEF7"/>
                </a:solidFill>
                <a:latin typeface="Consolas" pitchFamily="34" charset="0"/>
              </a:rPr>
              <a:t>].</a:t>
            </a:r>
            <a:r>
              <a:rPr lang="tr-TR" sz="1150" dirty="0" err="1">
                <a:solidFill>
                  <a:srgbClr val="60A5FA"/>
                </a:solidFill>
                <a:latin typeface="Consolas" pitchFamily="34" charset="0"/>
                <a:ea typeface="Consolas" pitchFamily="34" charset="-122"/>
                <a:cs typeface="Consolas" pitchFamily="34" charset="-120"/>
              </a:rPr>
              <a:t>push</a:t>
            </a:r>
            <a:r>
              <a:rPr lang="tr-TR" sz="1150" dirty="0">
                <a:solidFill>
                  <a:srgbClr val="EDEEF7"/>
                </a:solidFill>
                <a:latin typeface="Consolas" pitchFamily="34" charset="0"/>
                <a:ea typeface="Consolas" pitchFamily="34" charset="-122"/>
                <a:cs typeface="Consolas" pitchFamily="34" charset="-120"/>
              </a:rPr>
              <a:t>(</a:t>
            </a:r>
            <a:r>
              <a:rPr lang="tr-TR" sz="1150" dirty="0" err="1">
                <a:solidFill>
                  <a:srgbClr val="EDEEF7"/>
                </a:solidFill>
                <a:latin typeface="Consolas" pitchFamily="34" charset="0"/>
                <a:ea typeface="Consolas" pitchFamily="34" charset="-122"/>
                <a:cs typeface="Consolas" pitchFamily="34" charset="-120"/>
              </a:rPr>
              <a:t>nextItemId</a:t>
            </a:r>
            <a:r>
              <a:rPr lang="tr-TR" sz="1150" dirty="0">
                <a:solidFill>
                  <a:srgbClr val="EDEEF7"/>
                </a:solidFill>
                <a:latin typeface="Consolas" pitchFamily="34" charset="0"/>
                <a:ea typeface="Consolas" pitchFamily="34" charset="-122"/>
                <a:cs typeface="Consolas" pitchFamily="34" charset="-120"/>
              </a:rPr>
              <a:t>);</a:t>
            </a:r>
          </a:p>
          <a:p>
            <a:r>
              <a:rPr lang="tr-TR" sz="1150" dirty="0">
                <a:solidFill>
                  <a:srgbClr val="EDEEF7"/>
                </a:solidFill>
                <a:latin typeface="Consolas" pitchFamily="34" charset="0"/>
              </a:rPr>
              <a:t>    </a:t>
            </a:r>
            <a:r>
              <a:rPr lang="tr-TR" sz="1150" dirty="0" err="1">
                <a:solidFill>
                  <a:srgbClr val="EDEEF7"/>
                </a:solidFill>
                <a:latin typeface="Consolas" pitchFamily="34" charset="0"/>
              </a:rPr>
              <a:t>nextItemId</a:t>
            </a:r>
            <a:r>
              <a:rPr lang="tr-TR" sz="1150" dirty="0">
                <a:solidFill>
                  <a:srgbClr val="EDEEF7"/>
                </a:solidFill>
                <a:latin typeface="Consolas" pitchFamily="34" charset="0"/>
              </a:rPr>
              <a:t>++;</a:t>
            </a:r>
          </a:p>
          <a:p>
            <a:r>
              <a:rPr lang="tr-TR" sz="1150" dirty="0">
                <a:solidFill>
                  <a:srgbClr val="EDEEF7"/>
                </a:solidFill>
                <a:latin typeface="Consolas" pitchFamily="34" charset="0"/>
              </a:rPr>
              <a:t>}</a:t>
            </a:r>
            <a:endParaRPr lang="en-US" sz="1150" dirty="0"/>
          </a:p>
          <a:p>
            <a:endParaRPr lang="en-US" sz="1150" dirty="0"/>
          </a:p>
          <a:p>
            <a:endParaRPr lang="en-US" sz="1150" dirty="0"/>
          </a:p>
        </p:txBody>
      </p:sp>
      <p:sp>
        <p:nvSpPr>
          <p:cNvPr id="11" name="Shape 9"/>
          <p:cNvSpPr/>
          <p:nvPr/>
        </p:nvSpPr>
        <p:spPr>
          <a:xfrm>
            <a:off x="7178040" y="1554480"/>
            <a:ext cx="4434840" cy="1417320"/>
          </a:xfrm>
          <a:prstGeom prst="roundRect">
            <a:avLst>
              <a:gd name="adj" fmla="val 5161"/>
            </a:avLst>
          </a:prstGeom>
          <a:solidFill>
            <a:srgbClr val="151A33"/>
          </a:solidFill>
          <a:ln w="12700">
            <a:solidFill>
              <a:srgbClr val="2A3158"/>
            </a:solidFill>
            <a:prstDash val="solid"/>
          </a:ln>
        </p:spPr>
        <p:txBody>
          <a:bodyPr/>
          <a:lstStyle/>
          <a:p>
            <a:endParaRPr lang="tr-TR"/>
          </a:p>
        </p:txBody>
      </p:sp>
      <p:sp>
        <p:nvSpPr>
          <p:cNvPr id="12" name="Text 10"/>
          <p:cNvSpPr/>
          <p:nvPr/>
        </p:nvSpPr>
        <p:spPr>
          <a:xfrm>
            <a:off x="7360920" y="1691640"/>
            <a:ext cx="2743200" cy="365760"/>
          </a:xfrm>
          <a:prstGeom prst="rect">
            <a:avLst/>
          </a:prstGeom>
          <a:noFill/>
          <a:ln/>
        </p:spPr>
        <p:txBody>
          <a:bodyPr wrap="square" lIns="0" tIns="0" rIns="0" bIns="0" rtlCol="0" anchor="ctr"/>
          <a:lstStyle/>
          <a:p>
            <a:pPr marL="0" indent="0">
              <a:buNone/>
            </a:pPr>
            <a:r>
              <a:rPr lang="en-US" sz="1600" b="1" dirty="0">
                <a:solidFill>
                  <a:srgbClr val="8B7CF6"/>
                </a:solidFill>
                <a:latin typeface="Consolas" pitchFamily="34" charset="0"/>
                <a:ea typeface="Consolas" pitchFamily="34" charset="-122"/>
                <a:cs typeface="Consolas" pitchFamily="34" charset="-120"/>
              </a:rPr>
              <a:t>createItem()</a:t>
            </a:r>
            <a:endParaRPr lang="en-US" sz="1600" dirty="0"/>
          </a:p>
        </p:txBody>
      </p:sp>
      <p:sp>
        <p:nvSpPr>
          <p:cNvPr id="13" name="Shape 11"/>
          <p:cNvSpPr/>
          <p:nvPr/>
        </p:nvSpPr>
        <p:spPr>
          <a:xfrm>
            <a:off x="10104120" y="1719072"/>
            <a:ext cx="1417320" cy="320040"/>
          </a:xfrm>
          <a:prstGeom prst="roundRect">
            <a:avLst>
              <a:gd name="adj" fmla="val 14286"/>
            </a:avLst>
          </a:prstGeom>
          <a:solidFill>
            <a:srgbClr val="1F2547"/>
          </a:solidFill>
          <a:ln w="9525">
            <a:solidFill>
              <a:srgbClr val="F4A261"/>
            </a:solidFill>
            <a:prstDash val="solid"/>
          </a:ln>
        </p:spPr>
        <p:txBody>
          <a:bodyPr/>
          <a:lstStyle/>
          <a:p>
            <a:endParaRPr lang="tr-TR"/>
          </a:p>
        </p:txBody>
      </p:sp>
      <p:sp>
        <p:nvSpPr>
          <p:cNvPr id="14" name="Text 12"/>
          <p:cNvSpPr/>
          <p:nvPr/>
        </p:nvSpPr>
        <p:spPr>
          <a:xfrm>
            <a:off x="10104120" y="1719072"/>
            <a:ext cx="1417320" cy="320040"/>
          </a:xfrm>
          <a:prstGeom prst="rect">
            <a:avLst/>
          </a:prstGeom>
          <a:noFill/>
          <a:ln/>
        </p:spPr>
        <p:txBody>
          <a:bodyPr wrap="square" lIns="0" tIns="0" rIns="0" bIns="0" rtlCol="0" anchor="ctr"/>
          <a:lstStyle/>
          <a:p>
            <a:pPr marL="0" indent="0" algn="ctr">
              <a:buNone/>
            </a:pPr>
            <a:r>
              <a:rPr lang="en-US" sz="950" b="1" kern="0" spc="100" dirty="0">
                <a:solidFill>
                  <a:srgbClr val="F4A261"/>
                </a:solidFill>
                <a:latin typeface="Calibri" pitchFamily="34" charset="0"/>
                <a:ea typeface="Calibri" pitchFamily="34" charset="-122"/>
                <a:cs typeface="Calibri" pitchFamily="34" charset="-120"/>
              </a:rPr>
              <a:t>Admin only</a:t>
            </a:r>
            <a:endParaRPr lang="en-US" sz="950" dirty="0"/>
          </a:p>
        </p:txBody>
      </p:sp>
      <p:sp>
        <p:nvSpPr>
          <p:cNvPr id="15" name="Text 13"/>
          <p:cNvSpPr/>
          <p:nvPr/>
        </p:nvSpPr>
        <p:spPr>
          <a:xfrm>
            <a:off x="7360920" y="2121408"/>
            <a:ext cx="4160520" cy="777240"/>
          </a:xfrm>
          <a:prstGeom prst="rect">
            <a:avLst/>
          </a:prstGeom>
          <a:noFill/>
          <a:ln/>
        </p:spPr>
        <p:txBody>
          <a:bodyPr wrap="square" lIns="0" tIns="0" rIns="0" bIns="0" rtlCol="0" anchor="t"/>
          <a:lstStyle/>
          <a:p>
            <a:pPr marL="0" indent="0">
              <a:buNone/>
            </a:pPr>
            <a:r>
              <a:rPr lang="en-US" sz="1100" dirty="0">
                <a:solidFill>
                  <a:srgbClr val="A8AEC9"/>
                </a:solidFill>
                <a:latin typeface="Calibri" pitchFamily="34" charset="0"/>
                <a:ea typeface="Calibri" pitchFamily="34" charset="-122"/>
                <a:cs typeface="Calibri" pitchFamily="34" charset="-120"/>
              </a:rPr>
              <a:t>Mints a new item with name, type, rarity, ATK, DEF, and price. require(msg.sender == gameAdmin) blocks anyone else.</a:t>
            </a:r>
            <a:endParaRPr lang="en-US" sz="1100" dirty="0"/>
          </a:p>
        </p:txBody>
      </p:sp>
      <p:sp>
        <p:nvSpPr>
          <p:cNvPr id="16" name="Shape 14"/>
          <p:cNvSpPr/>
          <p:nvPr/>
        </p:nvSpPr>
        <p:spPr>
          <a:xfrm>
            <a:off x="7178040" y="3108960"/>
            <a:ext cx="4434840" cy="1417320"/>
          </a:xfrm>
          <a:prstGeom prst="roundRect">
            <a:avLst>
              <a:gd name="adj" fmla="val 5161"/>
            </a:avLst>
          </a:prstGeom>
          <a:solidFill>
            <a:srgbClr val="151A33"/>
          </a:solidFill>
          <a:ln w="12700">
            <a:solidFill>
              <a:srgbClr val="2A3158"/>
            </a:solidFill>
            <a:prstDash val="solid"/>
          </a:ln>
        </p:spPr>
        <p:txBody>
          <a:bodyPr/>
          <a:lstStyle/>
          <a:p>
            <a:endParaRPr lang="tr-TR"/>
          </a:p>
        </p:txBody>
      </p:sp>
      <p:sp>
        <p:nvSpPr>
          <p:cNvPr id="17" name="Text 15"/>
          <p:cNvSpPr/>
          <p:nvPr/>
        </p:nvSpPr>
        <p:spPr>
          <a:xfrm>
            <a:off x="7360920" y="3246120"/>
            <a:ext cx="2743200" cy="365760"/>
          </a:xfrm>
          <a:prstGeom prst="rect">
            <a:avLst/>
          </a:prstGeom>
          <a:noFill/>
          <a:ln/>
        </p:spPr>
        <p:txBody>
          <a:bodyPr wrap="square" lIns="0" tIns="0" rIns="0" bIns="0" rtlCol="0" anchor="ctr"/>
          <a:lstStyle/>
          <a:p>
            <a:pPr marL="0" indent="0">
              <a:buNone/>
            </a:pPr>
            <a:r>
              <a:rPr lang="en-US" sz="1600" b="1" dirty="0">
                <a:solidFill>
                  <a:srgbClr val="8B7CF6"/>
                </a:solidFill>
                <a:latin typeface="Consolas" pitchFamily="34" charset="0"/>
                <a:ea typeface="Consolas" pitchFamily="34" charset="-122"/>
                <a:cs typeface="Consolas" pitchFamily="34" charset="-120"/>
              </a:rPr>
              <a:t>buyItem()</a:t>
            </a:r>
            <a:endParaRPr lang="en-US" sz="1600" dirty="0"/>
          </a:p>
        </p:txBody>
      </p:sp>
      <p:sp>
        <p:nvSpPr>
          <p:cNvPr id="18" name="Shape 16"/>
          <p:cNvSpPr/>
          <p:nvPr/>
        </p:nvSpPr>
        <p:spPr>
          <a:xfrm>
            <a:off x="10104120" y="3273552"/>
            <a:ext cx="1417320" cy="320040"/>
          </a:xfrm>
          <a:prstGeom prst="roundRect">
            <a:avLst>
              <a:gd name="adj" fmla="val 14286"/>
            </a:avLst>
          </a:prstGeom>
          <a:solidFill>
            <a:srgbClr val="1F2547"/>
          </a:solidFill>
          <a:ln w="9525">
            <a:solidFill>
              <a:srgbClr val="F4A261"/>
            </a:solidFill>
            <a:prstDash val="solid"/>
          </a:ln>
        </p:spPr>
        <p:txBody>
          <a:bodyPr/>
          <a:lstStyle/>
          <a:p>
            <a:endParaRPr lang="tr-TR"/>
          </a:p>
        </p:txBody>
      </p:sp>
      <p:sp>
        <p:nvSpPr>
          <p:cNvPr id="19" name="Text 17"/>
          <p:cNvSpPr/>
          <p:nvPr/>
        </p:nvSpPr>
        <p:spPr>
          <a:xfrm>
            <a:off x="10104120" y="3273552"/>
            <a:ext cx="1417320" cy="320040"/>
          </a:xfrm>
          <a:prstGeom prst="rect">
            <a:avLst/>
          </a:prstGeom>
          <a:noFill/>
          <a:ln/>
        </p:spPr>
        <p:txBody>
          <a:bodyPr wrap="square" lIns="0" tIns="0" rIns="0" bIns="0" rtlCol="0" anchor="ctr"/>
          <a:lstStyle/>
          <a:p>
            <a:pPr marL="0" indent="0" algn="ctr">
              <a:buNone/>
            </a:pPr>
            <a:r>
              <a:rPr lang="en-US" sz="950" b="1" kern="0" spc="100" dirty="0">
                <a:solidFill>
                  <a:srgbClr val="F4A261"/>
                </a:solidFill>
                <a:latin typeface="Calibri" pitchFamily="34" charset="0"/>
                <a:ea typeface="Calibri" pitchFamily="34" charset="-122"/>
                <a:cs typeface="Calibri" pitchFamily="34" charset="-120"/>
              </a:rPr>
              <a:t>payable</a:t>
            </a:r>
            <a:endParaRPr lang="en-US" sz="950" dirty="0"/>
          </a:p>
        </p:txBody>
      </p:sp>
      <p:sp>
        <p:nvSpPr>
          <p:cNvPr id="20" name="Text 18"/>
          <p:cNvSpPr/>
          <p:nvPr/>
        </p:nvSpPr>
        <p:spPr>
          <a:xfrm>
            <a:off x="7360920" y="3675888"/>
            <a:ext cx="4160520" cy="777240"/>
          </a:xfrm>
          <a:prstGeom prst="rect">
            <a:avLst/>
          </a:prstGeom>
          <a:noFill/>
          <a:ln/>
        </p:spPr>
        <p:txBody>
          <a:bodyPr wrap="square" lIns="0" tIns="0" rIns="0" bIns="0" rtlCol="0" anchor="t"/>
          <a:lstStyle/>
          <a:p>
            <a:pPr marL="0" indent="0">
              <a:buNone/>
            </a:pPr>
            <a:r>
              <a:rPr lang="en-US" sz="1100" dirty="0">
                <a:solidFill>
                  <a:srgbClr val="A8AEC9"/>
                </a:solidFill>
                <a:latin typeface="Calibri" pitchFamily="34" charset="0"/>
                <a:ea typeface="Calibri" pitchFamily="34" charset="-122"/>
                <a:cs typeface="Calibri" pitchFamily="34" charset="-120"/>
              </a:rPr>
              <a:t>Player sends ETH ≥ price. Contract transfers ETH to seller and ownership to buyer in the same transaction — no half-trades.</a:t>
            </a:r>
            <a:endParaRPr lang="en-US" sz="1100" dirty="0"/>
          </a:p>
        </p:txBody>
      </p:sp>
      <p:sp>
        <p:nvSpPr>
          <p:cNvPr id="21" name="Shape 19"/>
          <p:cNvSpPr/>
          <p:nvPr/>
        </p:nvSpPr>
        <p:spPr>
          <a:xfrm>
            <a:off x="7178040" y="4663440"/>
            <a:ext cx="4434840" cy="1417320"/>
          </a:xfrm>
          <a:prstGeom prst="roundRect">
            <a:avLst>
              <a:gd name="adj" fmla="val 5161"/>
            </a:avLst>
          </a:prstGeom>
          <a:solidFill>
            <a:srgbClr val="151A33"/>
          </a:solidFill>
          <a:ln w="12700">
            <a:solidFill>
              <a:srgbClr val="2A3158"/>
            </a:solidFill>
            <a:prstDash val="solid"/>
          </a:ln>
        </p:spPr>
        <p:txBody>
          <a:bodyPr/>
          <a:lstStyle/>
          <a:p>
            <a:endParaRPr lang="tr-TR"/>
          </a:p>
        </p:txBody>
      </p:sp>
      <p:sp>
        <p:nvSpPr>
          <p:cNvPr id="22" name="Text 20"/>
          <p:cNvSpPr/>
          <p:nvPr/>
        </p:nvSpPr>
        <p:spPr>
          <a:xfrm>
            <a:off x="7360920" y="4800600"/>
            <a:ext cx="2743200" cy="365760"/>
          </a:xfrm>
          <a:prstGeom prst="rect">
            <a:avLst/>
          </a:prstGeom>
          <a:noFill/>
          <a:ln/>
        </p:spPr>
        <p:txBody>
          <a:bodyPr wrap="square" lIns="0" tIns="0" rIns="0" bIns="0" rtlCol="0" anchor="ctr"/>
          <a:lstStyle/>
          <a:p>
            <a:pPr marL="0" indent="0">
              <a:buNone/>
            </a:pPr>
            <a:r>
              <a:rPr lang="en-US" sz="1600" b="1" dirty="0">
                <a:solidFill>
                  <a:srgbClr val="8B7CF6"/>
                </a:solidFill>
                <a:latin typeface="Consolas" pitchFamily="34" charset="0"/>
                <a:ea typeface="Consolas" pitchFamily="34" charset="-122"/>
                <a:cs typeface="Consolas" pitchFamily="34" charset="-120"/>
              </a:rPr>
              <a:t>giftItem()</a:t>
            </a:r>
            <a:endParaRPr lang="en-US" sz="1600" dirty="0"/>
          </a:p>
        </p:txBody>
      </p:sp>
      <p:sp>
        <p:nvSpPr>
          <p:cNvPr id="23" name="Shape 21"/>
          <p:cNvSpPr/>
          <p:nvPr/>
        </p:nvSpPr>
        <p:spPr>
          <a:xfrm>
            <a:off x="10104120" y="4828032"/>
            <a:ext cx="1417320" cy="320040"/>
          </a:xfrm>
          <a:prstGeom prst="roundRect">
            <a:avLst>
              <a:gd name="adj" fmla="val 14286"/>
            </a:avLst>
          </a:prstGeom>
          <a:solidFill>
            <a:srgbClr val="1F2547"/>
          </a:solidFill>
          <a:ln w="9525">
            <a:solidFill>
              <a:srgbClr val="F4A261"/>
            </a:solidFill>
            <a:prstDash val="solid"/>
          </a:ln>
        </p:spPr>
        <p:txBody>
          <a:bodyPr/>
          <a:lstStyle/>
          <a:p>
            <a:endParaRPr lang="tr-TR"/>
          </a:p>
        </p:txBody>
      </p:sp>
      <p:sp>
        <p:nvSpPr>
          <p:cNvPr id="24" name="Text 22"/>
          <p:cNvSpPr/>
          <p:nvPr/>
        </p:nvSpPr>
        <p:spPr>
          <a:xfrm>
            <a:off x="10104120" y="4828032"/>
            <a:ext cx="1417320" cy="320040"/>
          </a:xfrm>
          <a:prstGeom prst="rect">
            <a:avLst/>
          </a:prstGeom>
          <a:noFill/>
          <a:ln/>
        </p:spPr>
        <p:txBody>
          <a:bodyPr wrap="square" lIns="0" tIns="0" rIns="0" bIns="0" rtlCol="0" anchor="ctr"/>
          <a:lstStyle/>
          <a:p>
            <a:pPr marL="0" indent="0" algn="ctr">
              <a:buNone/>
            </a:pPr>
            <a:r>
              <a:rPr lang="en-US" sz="950" b="1" kern="0" spc="100" dirty="0">
                <a:solidFill>
                  <a:srgbClr val="F4A261"/>
                </a:solidFill>
                <a:latin typeface="Calibri" pitchFamily="34" charset="0"/>
                <a:ea typeface="Calibri" pitchFamily="34" charset="-122"/>
                <a:cs typeface="Calibri" pitchFamily="34" charset="-120"/>
              </a:rPr>
              <a:t>Owner only</a:t>
            </a:r>
            <a:endParaRPr lang="en-US" sz="950" dirty="0"/>
          </a:p>
        </p:txBody>
      </p:sp>
      <p:sp>
        <p:nvSpPr>
          <p:cNvPr id="25" name="Text 23"/>
          <p:cNvSpPr/>
          <p:nvPr/>
        </p:nvSpPr>
        <p:spPr>
          <a:xfrm>
            <a:off x="7360920" y="5230368"/>
            <a:ext cx="4160520" cy="777240"/>
          </a:xfrm>
          <a:prstGeom prst="rect">
            <a:avLst/>
          </a:prstGeom>
          <a:noFill/>
          <a:ln/>
        </p:spPr>
        <p:txBody>
          <a:bodyPr wrap="square" lIns="0" tIns="0" rIns="0" bIns="0" rtlCol="0" anchor="t"/>
          <a:lstStyle/>
          <a:p>
            <a:pPr marL="0" indent="0">
              <a:buNone/>
            </a:pPr>
            <a:r>
              <a:rPr lang="en-US" sz="1100" dirty="0">
                <a:solidFill>
                  <a:srgbClr val="A8AEC9"/>
                </a:solidFill>
                <a:latin typeface="Calibri" pitchFamily="34" charset="0"/>
                <a:ea typeface="Calibri" pitchFamily="34" charset="-122"/>
                <a:cs typeface="Calibri" pitchFamily="34" charset="-120"/>
              </a:rPr>
              <a:t>Owner transfers an item to any address for free. Powers free-trade, gifting, and inheritance.</a:t>
            </a:r>
            <a:endParaRPr lang="en-US" sz="1100" dirty="0"/>
          </a:p>
        </p:txBody>
      </p:sp>
      <p:sp>
        <p:nvSpPr>
          <p:cNvPr id="26" name="Text 24"/>
          <p:cNvSpPr/>
          <p:nvPr/>
        </p:nvSpPr>
        <p:spPr>
          <a:xfrm>
            <a:off x="548640" y="6199632"/>
            <a:ext cx="11091672" cy="274320"/>
          </a:xfrm>
          <a:prstGeom prst="rect">
            <a:avLst/>
          </a:prstGeom>
          <a:noFill/>
          <a:ln/>
        </p:spPr>
        <p:txBody>
          <a:bodyPr wrap="square" lIns="0" tIns="0" rIns="0" bIns="0" rtlCol="0" anchor="ctr"/>
          <a:lstStyle/>
          <a:p>
            <a:pPr marL="0" indent="0">
              <a:buNone/>
            </a:pPr>
            <a:r>
              <a:rPr lang="en-US" sz="1050" b="1" dirty="0">
                <a:solidFill>
                  <a:srgbClr val="8B7CF6"/>
                </a:solidFill>
                <a:latin typeface="Georgia" pitchFamily="34" charset="0"/>
                <a:ea typeface="Georgia" pitchFamily="34" charset="-122"/>
                <a:cs typeface="Georgia" pitchFamily="34" charset="-120"/>
              </a:rPr>
              <a:t>Course patterns reused:  </a:t>
            </a:r>
            <a:r>
              <a:rPr lang="en-US" sz="1000" i="1" dirty="0">
                <a:solidFill>
                  <a:srgbClr val="6B7295"/>
                </a:solidFill>
                <a:latin typeface="Calibri" pitchFamily="34" charset="0"/>
                <a:ea typeface="Calibri" pitchFamily="34" charset="-122"/>
                <a:cs typeface="Calibri" pitchFamily="34" charset="-120"/>
              </a:rPr>
              <a:t>mappings, structs and require (</a:t>
            </a:r>
            <a:r>
              <a:rPr lang="en-US" sz="1000" i="1" dirty="0" err="1">
                <a:solidFill>
                  <a:srgbClr val="6B7295"/>
                </a:solidFill>
                <a:latin typeface="Calibri" pitchFamily="34" charset="0"/>
                <a:ea typeface="Calibri" pitchFamily="34" charset="-122"/>
                <a:cs typeface="Calibri" pitchFamily="34" charset="-120"/>
              </a:rPr>
              <a:t>EventRegistry</a:t>
            </a:r>
            <a:r>
              <a:rPr lang="en-US" sz="1000" i="1" dirty="0">
                <a:solidFill>
                  <a:srgbClr val="6B7295"/>
                </a:solidFill>
                <a:latin typeface="Calibri" pitchFamily="34" charset="0"/>
                <a:ea typeface="Calibri" pitchFamily="34" charset="-122"/>
                <a:cs typeface="Calibri" pitchFamily="34" charset="-120"/>
              </a:rPr>
              <a:t>), payable transfers (</a:t>
            </a:r>
            <a:r>
              <a:rPr lang="en-US" sz="1000" i="1" dirty="0" err="1">
                <a:solidFill>
                  <a:srgbClr val="6B7295"/>
                </a:solidFill>
                <a:latin typeface="Calibri" pitchFamily="34" charset="0"/>
                <a:ea typeface="Calibri" pitchFamily="34" charset="-122"/>
                <a:cs typeface="Calibri" pitchFamily="34" charset="-120"/>
              </a:rPr>
              <a:t>PiggyBank</a:t>
            </a:r>
            <a:r>
              <a:rPr lang="en-US" sz="1000" i="1" dirty="0">
                <a:solidFill>
                  <a:srgbClr val="6B7295"/>
                </a:solidFill>
                <a:latin typeface="Calibri" pitchFamily="34" charset="0"/>
                <a:ea typeface="Calibri" pitchFamily="34" charset="-122"/>
                <a:cs typeface="Calibri" pitchFamily="34" charset="-120"/>
              </a:rPr>
              <a:t>), access control via </a:t>
            </a:r>
            <a:r>
              <a:rPr lang="en-US" sz="1000" i="1" dirty="0" err="1">
                <a:solidFill>
                  <a:srgbClr val="6B7295"/>
                </a:solidFill>
                <a:latin typeface="Calibri" pitchFamily="34" charset="0"/>
                <a:ea typeface="Calibri" pitchFamily="34" charset="-122"/>
                <a:cs typeface="Calibri" pitchFamily="34" charset="-120"/>
              </a:rPr>
              <a:t>msg.sender</a:t>
            </a:r>
            <a:r>
              <a:rPr lang="en-US" sz="1000" i="1" dirty="0">
                <a:solidFill>
                  <a:srgbClr val="6B7295"/>
                </a:solidFill>
                <a:latin typeface="Calibri" pitchFamily="34" charset="0"/>
                <a:ea typeface="Calibri" pitchFamily="34" charset="-122"/>
                <a:cs typeface="Calibri" pitchFamily="34" charset="-120"/>
              </a:rPr>
              <a:t> (Identity).</a:t>
            </a:r>
            <a:endParaRPr lang="en-US" sz="1050" dirty="0"/>
          </a:p>
        </p:txBody>
      </p:sp>
      <p:sp>
        <p:nvSpPr>
          <p:cNvPr id="27" name="Text 25"/>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6B7295"/>
                </a:solidFill>
                <a:latin typeface="Calibri" pitchFamily="34" charset="0"/>
                <a:ea typeface="Calibri" pitchFamily="34" charset="-122"/>
                <a:cs typeface="Calibri" pitchFamily="34" charset="-120"/>
              </a:rPr>
              <a:t>EtherQuest Marketplace</a:t>
            </a:r>
            <a:r>
              <a:rPr lang="en-US" sz="900" dirty="0">
                <a:solidFill>
                  <a:srgbClr val="6B7295"/>
                </a:solidFill>
              </a:rPr>
              <a:t>   |   </a:t>
            </a:r>
            <a:r>
              <a:rPr lang="en-US" sz="900" dirty="0">
                <a:solidFill>
                  <a:srgbClr val="6B7295"/>
                </a:solidFill>
                <a:latin typeface="Consolas" pitchFamily="34" charset="0"/>
                <a:ea typeface="Consolas" pitchFamily="34" charset="-122"/>
                <a:cs typeface="Consolas" pitchFamily="34" charset="-120"/>
              </a:rPr>
              <a:t>Sepolia: 0xEd3B...0dDa</a:t>
            </a:r>
            <a:endParaRPr lang="en-US" sz="900" dirty="0"/>
          </a:p>
        </p:txBody>
      </p:sp>
      <p:sp>
        <p:nvSpPr>
          <p:cNvPr id="28" name="Text 26"/>
          <p:cNvSpPr/>
          <p:nvPr/>
        </p:nvSpPr>
        <p:spPr>
          <a:xfrm>
            <a:off x="11091672" y="6492240"/>
            <a:ext cx="640080" cy="274320"/>
          </a:xfrm>
          <a:prstGeom prst="rect">
            <a:avLst/>
          </a:prstGeom>
          <a:noFill/>
          <a:ln/>
        </p:spPr>
        <p:txBody>
          <a:bodyPr wrap="square" lIns="0" tIns="0" rIns="0" bIns="0" rtlCol="0" anchor="ctr"/>
          <a:lstStyle/>
          <a:p>
            <a:pPr marL="0" indent="0" algn="r">
              <a:buNone/>
            </a:pPr>
            <a:r>
              <a:rPr lang="en-US" sz="900" dirty="0">
                <a:solidFill>
                  <a:srgbClr val="6B7295"/>
                </a:solidFill>
                <a:latin typeface="Calibri" pitchFamily="34" charset="0"/>
                <a:ea typeface="Calibri" pitchFamily="34" charset="-122"/>
                <a:cs typeface="Calibri" pitchFamily="34" charset="-120"/>
              </a:rPr>
              <a:t>5 / 9</a:t>
            </a:r>
            <a:endParaRPr lang="en-US" sz="900" dirty="0"/>
          </a:p>
        </p:txBody>
      </p:sp>
      <p:sp>
        <p:nvSpPr>
          <p:cNvPr id="29" name="Shape 9">
            <a:extLst>
              <a:ext uri="{FF2B5EF4-FFF2-40B4-BE49-F238E27FC236}">
                <a16:creationId xmlns:a16="http://schemas.microsoft.com/office/drawing/2014/main" id="{0C0FDC16-534C-BFC9-F37C-B3343F263DA0}"/>
              </a:ext>
            </a:extLst>
          </p:cNvPr>
          <p:cNvSpPr/>
          <p:nvPr/>
        </p:nvSpPr>
        <p:spPr>
          <a:xfrm>
            <a:off x="7178040" y="266217"/>
            <a:ext cx="4434840" cy="1155269"/>
          </a:xfrm>
          <a:prstGeom prst="roundRect">
            <a:avLst>
              <a:gd name="adj" fmla="val 5161"/>
            </a:avLst>
          </a:prstGeom>
          <a:solidFill>
            <a:srgbClr val="151A33"/>
          </a:solidFill>
          <a:ln w="12700">
            <a:solidFill>
              <a:srgbClr val="2A3158"/>
            </a:solidFill>
            <a:prstDash val="solid"/>
          </a:ln>
        </p:spPr>
        <p:txBody>
          <a:bodyPr/>
          <a:lstStyle/>
          <a:p>
            <a:r>
              <a:rPr lang="tr-TR" sz="1100" b="1" dirty="0" err="1">
                <a:solidFill>
                  <a:srgbClr val="8B7CF6"/>
                </a:solidFill>
                <a:latin typeface="Consolas" pitchFamily="34" charset="0"/>
                <a:ea typeface="Consolas" pitchFamily="34" charset="-122"/>
                <a:cs typeface="Consolas" pitchFamily="34" charset="-120"/>
              </a:rPr>
              <a:t>Atomic</a:t>
            </a:r>
            <a:r>
              <a:rPr lang="tr-TR" sz="1100" b="1" dirty="0">
                <a:solidFill>
                  <a:srgbClr val="8B7CF6"/>
                </a:solidFill>
                <a:latin typeface="Consolas" pitchFamily="34" charset="0"/>
                <a:ea typeface="Consolas" pitchFamily="34" charset="-122"/>
                <a:cs typeface="Consolas" pitchFamily="34" charset="-120"/>
              </a:rPr>
              <a:t> – </a:t>
            </a:r>
            <a:r>
              <a:rPr lang="en-US" sz="1100" dirty="0">
                <a:solidFill>
                  <a:schemeClr val="bg1"/>
                </a:solidFill>
              </a:rPr>
              <a:t>ETH and ownership move in the same transaction; no half-trades.</a:t>
            </a:r>
          </a:p>
          <a:p>
            <a:r>
              <a:rPr lang="tr-TR" sz="1100" b="1" dirty="0" err="1">
                <a:solidFill>
                  <a:srgbClr val="8B7CF6"/>
                </a:solidFill>
                <a:latin typeface="Consolas" panose="020B0609020204030204" pitchFamily="49" charset="0"/>
              </a:rPr>
              <a:t>Permissioned</a:t>
            </a:r>
            <a:r>
              <a:rPr lang="tr-TR" sz="1100" b="1" dirty="0">
                <a:solidFill>
                  <a:srgbClr val="8B7CF6"/>
                </a:solidFill>
                <a:latin typeface="Consolas" panose="020B0609020204030204" pitchFamily="49" charset="0"/>
              </a:rPr>
              <a:t> </a:t>
            </a:r>
            <a:r>
              <a:rPr lang="tr-TR" sz="1100" b="1" dirty="0" err="1">
                <a:solidFill>
                  <a:srgbClr val="8B7CF6"/>
                </a:solidFill>
                <a:latin typeface="Consolas" panose="020B0609020204030204" pitchFamily="49" charset="0"/>
              </a:rPr>
              <a:t>mint</a:t>
            </a:r>
            <a:r>
              <a:rPr lang="tr-TR" sz="1100" b="1" dirty="0">
                <a:solidFill>
                  <a:srgbClr val="8B7CF6"/>
                </a:solidFill>
                <a:latin typeface="Consolas" panose="020B0609020204030204" pitchFamily="49" charset="0"/>
              </a:rPr>
              <a:t> </a:t>
            </a:r>
            <a:r>
              <a:rPr lang="tr-TR" sz="1100" dirty="0">
                <a:solidFill>
                  <a:schemeClr val="bg1"/>
                </a:solidFill>
                <a:latin typeface="Consolas" panose="020B0609020204030204" pitchFamily="49" charset="0"/>
              </a:rPr>
              <a:t>— </a:t>
            </a:r>
            <a:r>
              <a:rPr lang="tr-TR" sz="1100" dirty="0" err="1">
                <a:solidFill>
                  <a:schemeClr val="bg1"/>
                </a:solidFill>
                <a:latin typeface="Consolas" panose="020B0609020204030204" pitchFamily="49" charset="0"/>
              </a:rPr>
              <a:t>require</a:t>
            </a:r>
            <a:r>
              <a:rPr lang="tr-TR" sz="1100" dirty="0">
                <a:solidFill>
                  <a:schemeClr val="bg1"/>
                </a:solidFill>
                <a:latin typeface="Consolas" panose="020B0609020204030204" pitchFamily="49" charset="0"/>
              </a:rPr>
              <a:t>(</a:t>
            </a:r>
            <a:r>
              <a:rPr lang="tr-TR" sz="1100" dirty="0" err="1">
                <a:solidFill>
                  <a:schemeClr val="bg1"/>
                </a:solidFill>
                <a:latin typeface="Consolas" panose="020B0609020204030204" pitchFamily="49" charset="0"/>
              </a:rPr>
              <a:t>msg.sender</a:t>
            </a:r>
            <a:r>
              <a:rPr lang="tr-TR" sz="1100" dirty="0">
                <a:solidFill>
                  <a:schemeClr val="bg1"/>
                </a:solidFill>
                <a:latin typeface="Consolas" panose="020B0609020204030204" pitchFamily="49" charset="0"/>
              </a:rPr>
              <a:t> == </a:t>
            </a:r>
            <a:r>
              <a:rPr lang="tr-TR" sz="1100" dirty="0" err="1">
                <a:solidFill>
                  <a:schemeClr val="bg1"/>
                </a:solidFill>
                <a:latin typeface="Consolas" panose="020B0609020204030204" pitchFamily="49" charset="0"/>
              </a:rPr>
              <a:t>gameAdmin</a:t>
            </a:r>
            <a:r>
              <a:rPr lang="tr-TR" sz="1100" dirty="0">
                <a:solidFill>
                  <a:schemeClr val="bg1"/>
                </a:solidFill>
                <a:latin typeface="Consolas" panose="020B0609020204030204" pitchFamily="49" charset="0"/>
              </a:rPr>
              <a:t>) </a:t>
            </a:r>
            <a:r>
              <a:rPr lang="tr-TR" sz="1100" dirty="0" err="1">
                <a:solidFill>
                  <a:schemeClr val="bg1"/>
                </a:solidFill>
                <a:latin typeface="Consolas" panose="020B0609020204030204" pitchFamily="49" charset="0"/>
              </a:rPr>
              <a:t>blocks</a:t>
            </a:r>
            <a:r>
              <a:rPr lang="tr-TR" sz="1100" dirty="0">
                <a:solidFill>
                  <a:schemeClr val="bg1"/>
                </a:solidFill>
                <a:latin typeface="Consolas" panose="020B0609020204030204" pitchFamily="49" charset="0"/>
              </a:rPr>
              <a:t> </a:t>
            </a:r>
            <a:r>
              <a:rPr lang="tr-TR" sz="1100" dirty="0" err="1">
                <a:solidFill>
                  <a:schemeClr val="bg1"/>
                </a:solidFill>
                <a:latin typeface="Consolas" panose="020B0609020204030204" pitchFamily="49" charset="0"/>
              </a:rPr>
              <a:t>rogue</a:t>
            </a:r>
            <a:r>
              <a:rPr lang="tr-TR" sz="1100" dirty="0">
                <a:solidFill>
                  <a:schemeClr val="bg1"/>
                </a:solidFill>
                <a:latin typeface="Consolas" panose="020B0609020204030204" pitchFamily="49" charset="0"/>
              </a:rPr>
              <a:t> </a:t>
            </a:r>
            <a:r>
              <a:rPr lang="tr-TR" sz="1100" dirty="0" err="1">
                <a:solidFill>
                  <a:schemeClr val="bg1"/>
                </a:solidFill>
                <a:latin typeface="Consolas" panose="020B0609020204030204" pitchFamily="49" charset="0"/>
              </a:rPr>
              <a:t>minting</a:t>
            </a:r>
            <a:r>
              <a:rPr lang="tr-TR" sz="1100" dirty="0">
                <a:solidFill>
                  <a:schemeClr val="bg1"/>
                </a:solidFill>
                <a:latin typeface="Consolas" panose="020B0609020204030204" pitchFamily="49" charset="0"/>
              </a:rPr>
              <a:t>.</a:t>
            </a:r>
          </a:p>
          <a:p>
            <a:r>
              <a:rPr lang="en-US" sz="1100" b="1" dirty="0">
                <a:solidFill>
                  <a:srgbClr val="8B7CF6"/>
                </a:solidFill>
                <a:latin typeface="Consolas" panose="020B0609020204030204" pitchFamily="49" charset="0"/>
              </a:rPr>
              <a:t>Public state</a:t>
            </a:r>
            <a:r>
              <a:rPr lang="en-US" sz="1100" dirty="0">
                <a:solidFill>
                  <a:srgbClr val="8B7CF6"/>
                </a:solidFill>
                <a:latin typeface="Consolas" panose="020B0609020204030204" pitchFamily="49" charset="0"/>
              </a:rPr>
              <a:t> </a:t>
            </a:r>
            <a:r>
              <a:rPr lang="en-US" sz="1100" dirty="0">
                <a:solidFill>
                  <a:schemeClr val="bg1"/>
                </a:solidFill>
                <a:latin typeface="Consolas" panose="020B0609020204030204" pitchFamily="49" charset="0"/>
              </a:rPr>
              <a:t>— anyone can verify item history via </a:t>
            </a:r>
            <a:r>
              <a:rPr lang="en-US" sz="1100" dirty="0" err="1">
                <a:solidFill>
                  <a:schemeClr val="bg1"/>
                </a:solidFill>
                <a:latin typeface="Consolas" panose="020B0609020204030204" pitchFamily="49" charset="0"/>
              </a:rPr>
              <a:t>getItem</a:t>
            </a:r>
            <a:r>
              <a:rPr lang="en-US" sz="1100" dirty="0">
                <a:solidFill>
                  <a:schemeClr val="bg1"/>
                </a:solidFill>
                <a:latin typeface="Consolas" panose="020B0609020204030204" pitchFamily="49" charset="0"/>
              </a:rPr>
              <a:t>() on </a:t>
            </a:r>
            <a:r>
              <a:rPr lang="en-US" sz="1100" dirty="0" err="1">
                <a:solidFill>
                  <a:schemeClr val="bg1"/>
                </a:solidFill>
                <a:latin typeface="Consolas" panose="020B0609020204030204" pitchFamily="49" charset="0"/>
              </a:rPr>
              <a:t>Etherscan</a:t>
            </a:r>
            <a:r>
              <a:rPr lang="en-US" sz="1100" dirty="0">
                <a:solidFill>
                  <a:schemeClr val="bg1"/>
                </a:solidFill>
                <a:latin typeface="Consolas" panose="020B0609020204030204" pitchFamily="49"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lIns="0" tIns="0" rIns="0" bIns="0" rtlCol="0" anchor="ctr"/>
          <a:lstStyle/>
          <a:p>
            <a:pPr marL="0" indent="0">
              <a:buNone/>
            </a:pPr>
            <a:r>
              <a:rPr lang="en-US" sz="3600" b="1" dirty="0">
                <a:solidFill>
                  <a:srgbClr val="EDEEF7"/>
                </a:solidFill>
                <a:latin typeface="Georgia" pitchFamily="34" charset="0"/>
                <a:ea typeface="Georgia" pitchFamily="34" charset="-122"/>
                <a:cs typeface="Georgia" pitchFamily="34" charset="-120"/>
              </a:rPr>
              <a:t>Wallet Integration</a:t>
            </a:r>
            <a:endParaRPr lang="en-US" sz="3600" dirty="0"/>
          </a:p>
        </p:txBody>
      </p:sp>
      <p:sp>
        <p:nvSpPr>
          <p:cNvPr id="3" name="Text 1"/>
          <p:cNvSpPr/>
          <p:nvPr/>
        </p:nvSpPr>
        <p:spPr>
          <a:xfrm>
            <a:off x="548640" y="914400"/>
            <a:ext cx="10972800" cy="365760"/>
          </a:xfrm>
          <a:prstGeom prst="rect">
            <a:avLst/>
          </a:prstGeom>
          <a:noFill/>
          <a:ln/>
        </p:spPr>
        <p:txBody>
          <a:bodyPr wrap="square" lIns="0" tIns="0" rIns="0" bIns="0" rtlCol="0" anchor="ctr"/>
          <a:lstStyle/>
          <a:p>
            <a:pPr marL="0" indent="0">
              <a:buNone/>
            </a:pPr>
            <a:r>
              <a:rPr lang="en-US" sz="1500" i="1" dirty="0">
                <a:solidFill>
                  <a:srgbClr val="A8AEC9"/>
                </a:solidFill>
                <a:latin typeface="Calibri" pitchFamily="34" charset="0"/>
                <a:ea typeface="Calibri" pitchFamily="34" charset="-122"/>
                <a:cs typeface="Calibri" pitchFamily="34" charset="-120"/>
              </a:rPr>
              <a:t>How a player's wallet becomes their in-game identity</a:t>
            </a:r>
            <a:endParaRPr lang="en-US" sz="1500" dirty="0"/>
          </a:p>
        </p:txBody>
      </p:sp>
      <p:sp>
        <p:nvSpPr>
          <p:cNvPr id="4" name="Shape 2"/>
          <p:cNvSpPr/>
          <p:nvPr/>
        </p:nvSpPr>
        <p:spPr>
          <a:xfrm>
            <a:off x="502920" y="1554480"/>
            <a:ext cx="5852160" cy="4572000"/>
          </a:xfrm>
          <a:prstGeom prst="roundRect">
            <a:avLst>
              <a:gd name="adj" fmla="val 1600"/>
            </a:avLst>
          </a:prstGeom>
          <a:solidFill>
            <a:srgbClr val="151A33"/>
          </a:solidFill>
          <a:ln w="12700">
            <a:solidFill>
              <a:srgbClr val="2A3158"/>
            </a:solidFill>
            <a:prstDash val="solid"/>
          </a:ln>
        </p:spPr>
        <p:txBody>
          <a:bodyPr/>
          <a:lstStyle/>
          <a:p>
            <a:endParaRPr lang="tr-TR"/>
          </a:p>
        </p:txBody>
      </p:sp>
      <p:pic>
        <p:nvPicPr>
          <p:cNvPr id="5" name="Image 0" descr="/home/claude/imgs/purchase.png"/>
          <p:cNvPicPr>
            <a:picLocks noChangeAspect="1"/>
          </p:cNvPicPr>
          <p:nvPr/>
        </p:nvPicPr>
        <p:blipFill>
          <a:blip r:embed="rId3"/>
          <a:srcRect/>
          <a:stretch/>
        </p:blipFill>
        <p:spPr>
          <a:xfrm>
            <a:off x="640080" y="1691640"/>
            <a:ext cx="5577840" cy="4114800"/>
          </a:xfrm>
          <a:prstGeom prst="rect">
            <a:avLst/>
          </a:prstGeom>
        </p:spPr>
      </p:pic>
      <p:sp>
        <p:nvSpPr>
          <p:cNvPr id="6" name="Text 3"/>
          <p:cNvSpPr/>
          <p:nvPr/>
        </p:nvSpPr>
        <p:spPr>
          <a:xfrm>
            <a:off x="502920" y="5852160"/>
            <a:ext cx="5852160" cy="274320"/>
          </a:xfrm>
          <a:prstGeom prst="rect">
            <a:avLst/>
          </a:prstGeom>
          <a:noFill/>
          <a:ln/>
        </p:spPr>
        <p:txBody>
          <a:bodyPr wrap="square" lIns="0" tIns="0" rIns="0" bIns="0" rtlCol="0" anchor="ctr"/>
          <a:lstStyle/>
          <a:p>
            <a:pPr marL="0" indent="0" algn="ctr">
              <a:buNone/>
            </a:pPr>
            <a:r>
              <a:rPr lang="en-US" sz="1050" i="1" dirty="0">
                <a:solidFill>
                  <a:srgbClr val="6B7295"/>
                </a:solidFill>
                <a:latin typeface="Calibri" pitchFamily="34" charset="0"/>
                <a:ea typeface="Calibri" pitchFamily="34" charset="-122"/>
                <a:cs typeface="Calibri" pitchFamily="34" charset="-120"/>
              </a:rPr>
              <a:t>In-game purchase flow — every Buy click is a signed transaction</a:t>
            </a:r>
            <a:endParaRPr lang="en-US" sz="1050" dirty="0"/>
          </a:p>
        </p:txBody>
      </p:sp>
      <p:sp>
        <p:nvSpPr>
          <p:cNvPr id="7" name="Text 4"/>
          <p:cNvSpPr/>
          <p:nvPr/>
        </p:nvSpPr>
        <p:spPr>
          <a:xfrm>
            <a:off x="6629400" y="1691640"/>
            <a:ext cx="5120640" cy="457200"/>
          </a:xfrm>
          <a:prstGeom prst="rect">
            <a:avLst/>
          </a:prstGeom>
          <a:noFill/>
          <a:ln/>
        </p:spPr>
        <p:txBody>
          <a:bodyPr wrap="square" lIns="0" tIns="0" rIns="0" bIns="0" rtlCol="0" anchor="ctr"/>
          <a:lstStyle/>
          <a:p>
            <a:pPr marL="0" indent="0">
              <a:buNone/>
            </a:pPr>
            <a:r>
              <a:rPr lang="en-US" sz="2200" b="1" dirty="0">
                <a:solidFill>
                  <a:srgbClr val="EDEEF7"/>
                </a:solidFill>
                <a:latin typeface="Georgia" pitchFamily="34" charset="0"/>
                <a:ea typeface="Georgia" pitchFamily="34" charset="-122"/>
                <a:cs typeface="Georgia" pitchFamily="34" charset="-120"/>
              </a:rPr>
              <a:t>MetaMask is the bridge</a:t>
            </a:r>
            <a:endParaRPr lang="en-US" sz="2200" dirty="0"/>
          </a:p>
        </p:txBody>
      </p:sp>
      <p:sp>
        <p:nvSpPr>
          <p:cNvPr id="8" name="Text 5"/>
          <p:cNvSpPr/>
          <p:nvPr/>
        </p:nvSpPr>
        <p:spPr>
          <a:xfrm>
            <a:off x="6629400" y="2194560"/>
            <a:ext cx="5212080" cy="1188720"/>
          </a:xfrm>
          <a:prstGeom prst="rect">
            <a:avLst/>
          </a:prstGeom>
          <a:noFill/>
          <a:ln/>
        </p:spPr>
        <p:txBody>
          <a:bodyPr wrap="square" lIns="0" tIns="0" rIns="0" bIns="0" rtlCol="0" anchor="t"/>
          <a:lstStyle/>
          <a:p>
            <a:pPr marL="0" indent="0">
              <a:spcAft>
                <a:spcPts val="400"/>
              </a:spcAft>
              <a:buNone/>
            </a:pPr>
            <a:r>
              <a:rPr lang="en-US" sz="1300" dirty="0">
                <a:solidFill>
                  <a:srgbClr val="A8AEC9"/>
                </a:solidFill>
                <a:latin typeface="Calibri" pitchFamily="34" charset="0"/>
                <a:ea typeface="Calibri" pitchFamily="34" charset="-122"/>
                <a:cs typeface="Calibri" pitchFamily="34" charset="-120"/>
              </a:rPr>
              <a:t>A browser-based wallet that holds the player's private keys locally and signs every transaction. The game client never sees the keys — only the resulting signed payload.</a:t>
            </a:r>
            <a:endParaRPr lang="en-US" sz="1300" dirty="0"/>
          </a:p>
        </p:txBody>
      </p:sp>
      <p:sp>
        <p:nvSpPr>
          <p:cNvPr id="9" name="Shape 6"/>
          <p:cNvSpPr/>
          <p:nvPr/>
        </p:nvSpPr>
        <p:spPr>
          <a:xfrm>
            <a:off x="6629400" y="3429000"/>
            <a:ext cx="502920" cy="502920"/>
          </a:xfrm>
          <a:prstGeom prst="ellipse">
            <a:avLst/>
          </a:prstGeom>
          <a:solidFill>
            <a:srgbClr val="8B7CF6"/>
          </a:solidFill>
          <a:ln/>
        </p:spPr>
        <p:txBody>
          <a:bodyPr/>
          <a:lstStyle/>
          <a:p>
            <a:endParaRPr lang="tr-TR"/>
          </a:p>
        </p:txBody>
      </p:sp>
      <p:sp>
        <p:nvSpPr>
          <p:cNvPr id="10" name="Text 7"/>
          <p:cNvSpPr/>
          <p:nvPr/>
        </p:nvSpPr>
        <p:spPr>
          <a:xfrm>
            <a:off x="6629400" y="3429000"/>
            <a:ext cx="502920" cy="502920"/>
          </a:xfrm>
          <a:prstGeom prst="rect">
            <a:avLst/>
          </a:prstGeom>
          <a:noFill/>
          <a:ln/>
        </p:spPr>
        <p:txBody>
          <a:bodyPr wrap="square" lIns="0" tIns="0" rIns="0" bIns="0" rtlCol="0" anchor="ctr"/>
          <a:lstStyle/>
          <a:p>
            <a:pPr marL="0" indent="0" algn="ctr">
              <a:buNone/>
            </a:pPr>
            <a:r>
              <a:rPr lang="en-US" sz="1800" b="1" dirty="0">
                <a:solidFill>
                  <a:srgbClr val="EDEEF7"/>
                </a:solidFill>
                <a:latin typeface="Georgia" pitchFamily="34" charset="0"/>
                <a:ea typeface="Georgia" pitchFamily="34" charset="-122"/>
                <a:cs typeface="Georgia" pitchFamily="34" charset="-120"/>
              </a:rPr>
              <a:t>1</a:t>
            </a:r>
            <a:endParaRPr lang="en-US" sz="1800" dirty="0"/>
          </a:p>
        </p:txBody>
      </p:sp>
      <p:sp>
        <p:nvSpPr>
          <p:cNvPr id="11" name="Text 8"/>
          <p:cNvSpPr/>
          <p:nvPr/>
        </p:nvSpPr>
        <p:spPr>
          <a:xfrm>
            <a:off x="7269480" y="3410712"/>
            <a:ext cx="4434840" cy="320040"/>
          </a:xfrm>
          <a:prstGeom prst="rect">
            <a:avLst/>
          </a:prstGeom>
          <a:noFill/>
          <a:ln/>
        </p:spPr>
        <p:txBody>
          <a:bodyPr wrap="square" lIns="0" tIns="0" rIns="0" bIns="0" rtlCol="0" anchor="ctr"/>
          <a:lstStyle/>
          <a:p>
            <a:pPr marL="0" indent="0">
              <a:buNone/>
            </a:pPr>
            <a:r>
              <a:rPr lang="en-US" sz="1400" b="1" dirty="0">
                <a:solidFill>
                  <a:srgbClr val="EDEEF7"/>
                </a:solidFill>
                <a:latin typeface="Georgia" pitchFamily="34" charset="0"/>
                <a:ea typeface="Georgia" pitchFamily="34" charset="-122"/>
                <a:cs typeface="Georgia" pitchFamily="34" charset="-120"/>
              </a:rPr>
              <a:t>Player connects wallet</a:t>
            </a:r>
            <a:endParaRPr lang="en-US" sz="1400" dirty="0"/>
          </a:p>
        </p:txBody>
      </p:sp>
      <p:sp>
        <p:nvSpPr>
          <p:cNvPr id="12" name="Text 9"/>
          <p:cNvSpPr/>
          <p:nvPr/>
        </p:nvSpPr>
        <p:spPr>
          <a:xfrm>
            <a:off x="7269480" y="3721608"/>
            <a:ext cx="4434840" cy="594360"/>
          </a:xfrm>
          <a:prstGeom prst="rect">
            <a:avLst/>
          </a:prstGeom>
          <a:noFill/>
          <a:ln/>
        </p:spPr>
        <p:txBody>
          <a:bodyPr wrap="square" lIns="0" tIns="0" rIns="0" bIns="0" rtlCol="0" anchor="t"/>
          <a:lstStyle/>
          <a:p>
            <a:pPr marL="0" indent="0">
              <a:buNone/>
            </a:pPr>
            <a:r>
              <a:rPr lang="en-US" sz="1100" dirty="0">
                <a:solidFill>
                  <a:srgbClr val="A8AEC9"/>
                </a:solidFill>
                <a:latin typeface="Calibri" pitchFamily="34" charset="0"/>
                <a:ea typeface="Calibri" pitchFamily="34" charset="-122"/>
                <a:cs typeface="Calibri" pitchFamily="34" charset="-120"/>
              </a:rPr>
              <a:t>Game UI requests connection. Player approves once. Wallet address becomes the player's account ID — no email, no password.</a:t>
            </a:r>
            <a:endParaRPr lang="en-US" sz="1100" dirty="0"/>
          </a:p>
        </p:txBody>
      </p:sp>
      <p:sp>
        <p:nvSpPr>
          <p:cNvPr id="13" name="Shape 10"/>
          <p:cNvSpPr/>
          <p:nvPr/>
        </p:nvSpPr>
        <p:spPr>
          <a:xfrm>
            <a:off x="6629400" y="4343400"/>
            <a:ext cx="502920" cy="502920"/>
          </a:xfrm>
          <a:prstGeom prst="ellipse">
            <a:avLst/>
          </a:prstGeom>
          <a:solidFill>
            <a:srgbClr val="8B7CF6"/>
          </a:solidFill>
          <a:ln/>
        </p:spPr>
        <p:txBody>
          <a:bodyPr/>
          <a:lstStyle/>
          <a:p>
            <a:endParaRPr lang="tr-TR"/>
          </a:p>
        </p:txBody>
      </p:sp>
      <p:sp>
        <p:nvSpPr>
          <p:cNvPr id="14" name="Text 11"/>
          <p:cNvSpPr/>
          <p:nvPr/>
        </p:nvSpPr>
        <p:spPr>
          <a:xfrm>
            <a:off x="6629400" y="4343400"/>
            <a:ext cx="502920" cy="502920"/>
          </a:xfrm>
          <a:prstGeom prst="rect">
            <a:avLst/>
          </a:prstGeom>
          <a:noFill/>
          <a:ln/>
        </p:spPr>
        <p:txBody>
          <a:bodyPr wrap="square" lIns="0" tIns="0" rIns="0" bIns="0" rtlCol="0" anchor="ctr"/>
          <a:lstStyle/>
          <a:p>
            <a:pPr marL="0" indent="0" algn="ctr">
              <a:buNone/>
            </a:pPr>
            <a:r>
              <a:rPr lang="en-US" sz="1800" b="1" dirty="0">
                <a:solidFill>
                  <a:srgbClr val="EDEEF7"/>
                </a:solidFill>
                <a:latin typeface="Georgia" pitchFamily="34" charset="0"/>
                <a:ea typeface="Georgia" pitchFamily="34" charset="-122"/>
                <a:cs typeface="Georgia" pitchFamily="34" charset="-120"/>
              </a:rPr>
              <a:t>2</a:t>
            </a:r>
            <a:endParaRPr lang="en-US" sz="1800" dirty="0"/>
          </a:p>
        </p:txBody>
      </p:sp>
      <p:sp>
        <p:nvSpPr>
          <p:cNvPr id="15" name="Text 12"/>
          <p:cNvSpPr/>
          <p:nvPr/>
        </p:nvSpPr>
        <p:spPr>
          <a:xfrm>
            <a:off x="7269480" y="4325112"/>
            <a:ext cx="4434840" cy="320040"/>
          </a:xfrm>
          <a:prstGeom prst="rect">
            <a:avLst/>
          </a:prstGeom>
          <a:noFill/>
          <a:ln/>
        </p:spPr>
        <p:txBody>
          <a:bodyPr wrap="square" lIns="0" tIns="0" rIns="0" bIns="0" rtlCol="0" anchor="ctr"/>
          <a:lstStyle/>
          <a:p>
            <a:pPr marL="0" indent="0">
              <a:buNone/>
            </a:pPr>
            <a:r>
              <a:rPr lang="en-US" sz="1400" b="1" dirty="0">
                <a:solidFill>
                  <a:srgbClr val="EDEEF7"/>
                </a:solidFill>
                <a:latin typeface="Georgia" pitchFamily="34" charset="0"/>
                <a:ea typeface="Georgia" pitchFamily="34" charset="-122"/>
                <a:cs typeface="Georgia" pitchFamily="34" charset="-120"/>
              </a:rPr>
              <a:t>Player clicks Buy</a:t>
            </a:r>
            <a:endParaRPr lang="en-US" sz="1400" dirty="0"/>
          </a:p>
        </p:txBody>
      </p:sp>
      <p:sp>
        <p:nvSpPr>
          <p:cNvPr id="16" name="Text 13"/>
          <p:cNvSpPr/>
          <p:nvPr/>
        </p:nvSpPr>
        <p:spPr>
          <a:xfrm>
            <a:off x="7269480" y="4636008"/>
            <a:ext cx="4434840" cy="594360"/>
          </a:xfrm>
          <a:prstGeom prst="rect">
            <a:avLst/>
          </a:prstGeom>
          <a:noFill/>
          <a:ln/>
        </p:spPr>
        <p:txBody>
          <a:bodyPr wrap="square" lIns="0" tIns="0" rIns="0" bIns="0" rtlCol="0" anchor="t"/>
          <a:lstStyle/>
          <a:p>
            <a:pPr marL="0" indent="0">
              <a:buNone/>
            </a:pPr>
            <a:r>
              <a:rPr lang="en-US" sz="1100" dirty="0">
                <a:solidFill>
                  <a:srgbClr val="A8AEC9"/>
                </a:solidFill>
                <a:latin typeface="Calibri" pitchFamily="34" charset="0"/>
                <a:ea typeface="Calibri" pitchFamily="34" charset="-122"/>
                <a:cs typeface="Calibri" pitchFamily="34" charset="-120"/>
              </a:rPr>
              <a:t>Game encodes a buyItem(itemId) call and sends it to MetaMask, with the item price as msg.value.</a:t>
            </a:r>
            <a:endParaRPr lang="en-US" sz="1100" dirty="0"/>
          </a:p>
        </p:txBody>
      </p:sp>
      <p:sp>
        <p:nvSpPr>
          <p:cNvPr id="17" name="Shape 14"/>
          <p:cNvSpPr/>
          <p:nvPr/>
        </p:nvSpPr>
        <p:spPr>
          <a:xfrm>
            <a:off x="6629400" y="5257800"/>
            <a:ext cx="502920" cy="502920"/>
          </a:xfrm>
          <a:prstGeom prst="ellipse">
            <a:avLst/>
          </a:prstGeom>
          <a:solidFill>
            <a:srgbClr val="8B7CF6"/>
          </a:solidFill>
          <a:ln/>
        </p:spPr>
        <p:txBody>
          <a:bodyPr/>
          <a:lstStyle/>
          <a:p>
            <a:endParaRPr lang="tr-TR"/>
          </a:p>
        </p:txBody>
      </p:sp>
      <p:sp>
        <p:nvSpPr>
          <p:cNvPr id="18" name="Text 15"/>
          <p:cNvSpPr/>
          <p:nvPr/>
        </p:nvSpPr>
        <p:spPr>
          <a:xfrm>
            <a:off x="6629400" y="5257800"/>
            <a:ext cx="502920" cy="502920"/>
          </a:xfrm>
          <a:prstGeom prst="rect">
            <a:avLst/>
          </a:prstGeom>
          <a:noFill/>
          <a:ln/>
        </p:spPr>
        <p:txBody>
          <a:bodyPr wrap="square" lIns="0" tIns="0" rIns="0" bIns="0" rtlCol="0" anchor="ctr"/>
          <a:lstStyle/>
          <a:p>
            <a:pPr marL="0" indent="0" algn="ctr">
              <a:buNone/>
            </a:pPr>
            <a:r>
              <a:rPr lang="en-US" sz="1800" b="1" dirty="0">
                <a:solidFill>
                  <a:srgbClr val="EDEEF7"/>
                </a:solidFill>
                <a:latin typeface="Georgia" pitchFamily="34" charset="0"/>
                <a:ea typeface="Georgia" pitchFamily="34" charset="-122"/>
                <a:cs typeface="Georgia" pitchFamily="34" charset="-120"/>
              </a:rPr>
              <a:t>3</a:t>
            </a:r>
            <a:endParaRPr lang="en-US" sz="1800" dirty="0"/>
          </a:p>
        </p:txBody>
      </p:sp>
      <p:sp>
        <p:nvSpPr>
          <p:cNvPr id="19" name="Text 16"/>
          <p:cNvSpPr/>
          <p:nvPr/>
        </p:nvSpPr>
        <p:spPr>
          <a:xfrm>
            <a:off x="7269480" y="5239512"/>
            <a:ext cx="4434840" cy="320040"/>
          </a:xfrm>
          <a:prstGeom prst="rect">
            <a:avLst/>
          </a:prstGeom>
          <a:noFill/>
          <a:ln/>
        </p:spPr>
        <p:txBody>
          <a:bodyPr wrap="square" lIns="0" tIns="0" rIns="0" bIns="0" rtlCol="0" anchor="ctr"/>
          <a:lstStyle/>
          <a:p>
            <a:pPr marL="0" indent="0">
              <a:buNone/>
            </a:pPr>
            <a:r>
              <a:rPr lang="en-US" sz="1400" b="1" dirty="0">
                <a:solidFill>
                  <a:srgbClr val="EDEEF7"/>
                </a:solidFill>
                <a:latin typeface="Georgia" pitchFamily="34" charset="0"/>
                <a:ea typeface="Georgia" pitchFamily="34" charset="-122"/>
                <a:cs typeface="Georgia" pitchFamily="34" charset="-120"/>
              </a:rPr>
              <a:t>Wallet signs and broadcasts</a:t>
            </a:r>
            <a:endParaRPr lang="en-US" sz="1400" dirty="0"/>
          </a:p>
        </p:txBody>
      </p:sp>
      <p:sp>
        <p:nvSpPr>
          <p:cNvPr id="20" name="Text 17"/>
          <p:cNvSpPr/>
          <p:nvPr/>
        </p:nvSpPr>
        <p:spPr>
          <a:xfrm>
            <a:off x="7269480" y="5550408"/>
            <a:ext cx="4434840" cy="594360"/>
          </a:xfrm>
          <a:prstGeom prst="rect">
            <a:avLst/>
          </a:prstGeom>
          <a:noFill/>
          <a:ln/>
        </p:spPr>
        <p:txBody>
          <a:bodyPr wrap="square" lIns="0" tIns="0" rIns="0" bIns="0" rtlCol="0" anchor="t"/>
          <a:lstStyle/>
          <a:p>
            <a:pPr marL="0" indent="0">
              <a:buNone/>
            </a:pPr>
            <a:r>
              <a:rPr lang="en-US" sz="1100" dirty="0">
                <a:solidFill>
                  <a:srgbClr val="A8AEC9"/>
                </a:solidFill>
                <a:latin typeface="Calibri" pitchFamily="34" charset="0"/>
                <a:ea typeface="Calibri" pitchFamily="34" charset="-122"/>
                <a:cs typeface="Calibri" pitchFamily="34" charset="-120"/>
              </a:rPr>
              <a:t>Player approves in MetaMask. Transaction is mined on Sepolia. Ownership updates on-chain — game UI refreshes from the contract.</a:t>
            </a:r>
            <a:endParaRPr lang="en-US" sz="1100" dirty="0"/>
          </a:p>
        </p:txBody>
      </p:sp>
      <p:sp>
        <p:nvSpPr>
          <p:cNvPr id="21" name="Text 18"/>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6B7295"/>
                </a:solidFill>
                <a:latin typeface="Calibri" pitchFamily="34" charset="0"/>
                <a:ea typeface="Calibri" pitchFamily="34" charset="-122"/>
                <a:cs typeface="Calibri" pitchFamily="34" charset="-120"/>
              </a:rPr>
              <a:t>EtherQuest Marketplace</a:t>
            </a:r>
            <a:r>
              <a:rPr lang="en-US" sz="900" dirty="0">
                <a:solidFill>
                  <a:srgbClr val="6B7295"/>
                </a:solidFill>
              </a:rPr>
              <a:t>   |   </a:t>
            </a:r>
            <a:r>
              <a:rPr lang="en-US" sz="900" dirty="0">
                <a:solidFill>
                  <a:srgbClr val="6B7295"/>
                </a:solidFill>
                <a:latin typeface="Consolas" pitchFamily="34" charset="0"/>
                <a:ea typeface="Consolas" pitchFamily="34" charset="-122"/>
                <a:cs typeface="Consolas" pitchFamily="34" charset="-120"/>
              </a:rPr>
              <a:t>Sepolia: 0xEd3B...0dDa</a:t>
            </a:r>
            <a:endParaRPr lang="en-US" sz="900" dirty="0"/>
          </a:p>
        </p:txBody>
      </p:sp>
      <p:sp>
        <p:nvSpPr>
          <p:cNvPr id="22" name="Text 19"/>
          <p:cNvSpPr/>
          <p:nvPr/>
        </p:nvSpPr>
        <p:spPr>
          <a:xfrm>
            <a:off x="11091672" y="6492240"/>
            <a:ext cx="640080" cy="274320"/>
          </a:xfrm>
          <a:prstGeom prst="rect">
            <a:avLst/>
          </a:prstGeom>
          <a:noFill/>
          <a:ln/>
        </p:spPr>
        <p:txBody>
          <a:bodyPr wrap="square" lIns="0" tIns="0" rIns="0" bIns="0" rtlCol="0" anchor="ctr"/>
          <a:lstStyle/>
          <a:p>
            <a:pPr marL="0" indent="0" algn="r">
              <a:buNone/>
            </a:pPr>
            <a:r>
              <a:rPr lang="en-US" sz="900" dirty="0">
                <a:solidFill>
                  <a:srgbClr val="6B7295"/>
                </a:solidFill>
                <a:latin typeface="Calibri" pitchFamily="34" charset="0"/>
                <a:ea typeface="Calibri" pitchFamily="34" charset="-122"/>
                <a:cs typeface="Calibri" pitchFamily="34" charset="-120"/>
              </a:rPr>
              <a:t>6 / 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marL="0" indent="0">
              <a:buNone/>
            </a:pPr>
            <a:r>
              <a:rPr lang="en-US" sz="3600" b="1" dirty="0">
                <a:solidFill>
                  <a:srgbClr val="EDEEF7"/>
                </a:solidFill>
                <a:latin typeface="Georgia" pitchFamily="34" charset="0"/>
                <a:ea typeface="Georgia" pitchFamily="34" charset="-122"/>
                <a:cs typeface="Georgia" pitchFamily="34" charset="-120"/>
              </a:rPr>
              <a:t>Live Demo</a:t>
            </a:r>
            <a:endParaRPr lang="en-US" sz="3600" dirty="0"/>
          </a:p>
        </p:txBody>
      </p:sp>
      <p:sp>
        <p:nvSpPr>
          <p:cNvPr id="3" name="Text 1"/>
          <p:cNvSpPr/>
          <p:nvPr/>
        </p:nvSpPr>
        <p:spPr>
          <a:xfrm>
            <a:off x="548640" y="914400"/>
            <a:ext cx="10972800" cy="365760"/>
          </a:xfrm>
          <a:prstGeom prst="rect">
            <a:avLst/>
          </a:prstGeom>
          <a:noFill/>
          <a:ln/>
        </p:spPr>
        <p:txBody>
          <a:bodyPr wrap="square" lIns="0" tIns="0" rIns="0" bIns="0" rtlCol="0" anchor="ctr"/>
          <a:lstStyle/>
          <a:p>
            <a:pPr marL="0" indent="0">
              <a:buNone/>
            </a:pPr>
            <a:r>
              <a:rPr lang="en-US" sz="1500" i="1" dirty="0">
                <a:solidFill>
                  <a:srgbClr val="A8AEC9"/>
                </a:solidFill>
                <a:latin typeface="Calibri" pitchFamily="34" charset="0"/>
                <a:ea typeface="Calibri" pitchFamily="34" charset="-122"/>
                <a:cs typeface="Calibri" pitchFamily="34" charset="-120"/>
              </a:rPr>
              <a:t>Deployed on Sepolia testnet — verified via Etherscan</a:t>
            </a:r>
            <a:endParaRPr lang="en-US" sz="1500" dirty="0"/>
          </a:p>
        </p:txBody>
      </p:sp>
      <p:sp>
        <p:nvSpPr>
          <p:cNvPr id="4" name="Shape 2"/>
          <p:cNvSpPr/>
          <p:nvPr/>
        </p:nvSpPr>
        <p:spPr>
          <a:xfrm>
            <a:off x="7863840" y="502920"/>
            <a:ext cx="3931920" cy="502920"/>
          </a:xfrm>
          <a:prstGeom prst="roundRect">
            <a:avLst>
              <a:gd name="adj" fmla="val 9091"/>
            </a:avLst>
          </a:prstGeom>
          <a:solidFill>
            <a:srgbClr val="1F2547"/>
          </a:solidFill>
          <a:ln w="12700">
            <a:solidFill>
              <a:srgbClr val="8B7CF6"/>
            </a:solidFill>
            <a:prstDash val="solid"/>
          </a:ln>
        </p:spPr>
        <p:txBody>
          <a:bodyPr/>
          <a:lstStyle/>
          <a:p>
            <a:endParaRPr lang="tr-TR"/>
          </a:p>
        </p:txBody>
      </p:sp>
      <p:sp>
        <p:nvSpPr>
          <p:cNvPr id="5" name="Text 3"/>
          <p:cNvSpPr/>
          <p:nvPr/>
        </p:nvSpPr>
        <p:spPr>
          <a:xfrm>
            <a:off x="7955280" y="502920"/>
            <a:ext cx="3749040" cy="502920"/>
          </a:xfrm>
          <a:prstGeom prst="rect">
            <a:avLst/>
          </a:prstGeom>
          <a:noFill/>
          <a:ln/>
        </p:spPr>
        <p:txBody>
          <a:bodyPr wrap="square" lIns="0" tIns="0" rIns="0" bIns="0" rtlCol="0" anchor="ctr"/>
          <a:lstStyle/>
          <a:p>
            <a:pPr marL="0" indent="0">
              <a:buNone/>
            </a:pPr>
            <a:r>
              <a:rPr lang="en-US" sz="900" b="1" kern="0" spc="200" dirty="0">
                <a:solidFill>
                  <a:srgbClr val="8B7CF6"/>
                </a:solidFill>
                <a:latin typeface="Calibri" pitchFamily="34" charset="0"/>
                <a:ea typeface="Calibri" pitchFamily="34" charset="-122"/>
                <a:cs typeface="Calibri" pitchFamily="34" charset="-120"/>
              </a:rPr>
              <a:t>CONTRACT  </a:t>
            </a:r>
            <a:r>
              <a:rPr lang="en-US" sz="1100" dirty="0">
                <a:solidFill>
                  <a:srgbClr val="EDEEF7"/>
                </a:solidFill>
                <a:latin typeface="Consolas" pitchFamily="34" charset="0"/>
                <a:ea typeface="Consolas" pitchFamily="34" charset="-122"/>
                <a:cs typeface="Consolas" pitchFamily="34" charset="-120"/>
              </a:rPr>
              <a:t>0xEd3Bbe53...EB5586a93190dDa</a:t>
            </a:r>
            <a:endParaRPr lang="en-US" sz="900" dirty="0"/>
          </a:p>
        </p:txBody>
      </p:sp>
      <p:sp>
        <p:nvSpPr>
          <p:cNvPr id="6" name="Shape 4"/>
          <p:cNvSpPr/>
          <p:nvPr/>
        </p:nvSpPr>
        <p:spPr>
          <a:xfrm>
            <a:off x="562356" y="1417320"/>
            <a:ext cx="2093901" cy="2423160"/>
          </a:xfrm>
          <a:prstGeom prst="roundRect">
            <a:avLst>
              <a:gd name="adj" fmla="val 2927"/>
            </a:avLst>
          </a:prstGeom>
          <a:solidFill>
            <a:srgbClr val="151A33"/>
          </a:solidFill>
          <a:ln w="12700">
            <a:solidFill>
              <a:srgbClr val="2A3158"/>
            </a:solidFill>
            <a:prstDash val="solid"/>
          </a:ln>
        </p:spPr>
        <p:txBody>
          <a:bodyPr/>
          <a:lstStyle/>
          <a:p>
            <a:endParaRPr lang="tr-TR"/>
          </a:p>
        </p:txBody>
      </p:sp>
      <p:pic>
        <p:nvPicPr>
          <p:cNvPr id="7" name="Image 0" descr="/home/claude/imgs/createitem.png"/>
          <p:cNvPicPr>
            <a:picLocks noChangeAspect="1"/>
          </p:cNvPicPr>
          <p:nvPr/>
        </p:nvPicPr>
        <p:blipFill>
          <a:blip r:embed="rId3"/>
          <a:srcRect/>
          <a:stretch/>
        </p:blipFill>
        <p:spPr>
          <a:xfrm>
            <a:off x="653796" y="1508760"/>
            <a:ext cx="2224673" cy="2295144"/>
          </a:xfrm>
          <a:prstGeom prst="rect">
            <a:avLst/>
          </a:prstGeom>
        </p:spPr>
      </p:pic>
      <p:sp>
        <p:nvSpPr>
          <p:cNvPr id="8" name="Text 5"/>
          <p:cNvSpPr/>
          <p:nvPr/>
        </p:nvSpPr>
        <p:spPr>
          <a:xfrm>
            <a:off x="3095206" y="1510109"/>
            <a:ext cx="2651760" cy="228600"/>
          </a:xfrm>
          <a:prstGeom prst="rect">
            <a:avLst/>
          </a:prstGeom>
          <a:noFill/>
          <a:ln/>
        </p:spPr>
        <p:txBody>
          <a:bodyPr wrap="square" lIns="0" tIns="0" rIns="0" bIns="0" rtlCol="0" anchor="ctr"/>
          <a:lstStyle/>
          <a:p>
            <a:pPr marL="0" indent="0">
              <a:buNone/>
            </a:pPr>
            <a:r>
              <a:rPr lang="en-US" sz="1300" b="1" dirty="0">
                <a:solidFill>
                  <a:srgbClr val="EDEEF7"/>
                </a:solidFill>
                <a:latin typeface="Georgia" pitchFamily="34" charset="0"/>
                <a:ea typeface="Georgia" pitchFamily="34" charset="-122"/>
                <a:cs typeface="Georgia" pitchFamily="34" charset="-120"/>
              </a:rPr>
              <a:t>1.  Admin creates Iron Sword</a:t>
            </a:r>
            <a:endParaRPr lang="en-US" sz="1300" dirty="0"/>
          </a:p>
        </p:txBody>
      </p:sp>
      <p:sp>
        <p:nvSpPr>
          <p:cNvPr id="9" name="Text 6"/>
          <p:cNvSpPr/>
          <p:nvPr/>
        </p:nvSpPr>
        <p:spPr>
          <a:xfrm>
            <a:off x="3095206" y="1693626"/>
            <a:ext cx="1817557" cy="285188"/>
          </a:xfrm>
          <a:prstGeom prst="rect">
            <a:avLst/>
          </a:prstGeom>
          <a:noFill/>
          <a:ln/>
        </p:spPr>
        <p:txBody>
          <a:bodyPr wrap="square" lIns="0" tIns="0" rIns="0" bIns="0" rtlCol="0" anchor="ctr"/>
          <a:lstStyle/>
          <a:p>
            <a:pPr marL="0" indent="0">
              <a:buNone/>
            </a:pPr>
            <a:r>
              <a:rPr lang="en-US" sz="1050" i="1" dirty="0">
                <a:solidFill>
                  <a:srgbClr val="6B7295"/>
                </a:solidFill>
                <a:latin typeface="Calibri" pitchFamily="34" charset="0"/>
                <a:ea typeface="Calibri" pitchFamily="34" charset="-122"/>
                <a:cs typeface="Calibri" pitchFamily="34" charset="-120"/>
              </a:rPr>
              <a:t>createItem() — Common, ATK 10</a:t>
            </a:r>
            <a:endParaRPr lang="en-US" sz="1050" dirty="0"/>
          </a:p>
        </p:txBody>
      </p:sp>
      <p:sp>
        <p:nvSpPr>
          <p:cNvPr id="10" name="Shape 7"/>
          <p:cNvSpPr/>
          <p:nvPr/>
        </p:nvSpPr>
        <p:spPr>
          <a:xfrm>
            <a:off x="6185916" y="1417320"/>
            <a:ext cx="5440680" cy="1874520"/>
          </a:xfrm>
          <a:prstGeom prst="roundRect">
            <a:avLst>
              <a:gd name="adj" fmla="val 2927"/>
            </a:avLst>
          </a:prstGeom>
          <a:solidFill>
            <a:srgbClr val="151A33"/>
          </a:solidFill>
          <a:ln w="12700">
            <a:solidFill>
              <a:srgbClr val="2A3158"/>
            </a:solidFill>
            <a:prstDash val="solid"/>
          </a:ln>
        </p:spPr>
        <p:txBody>
          <a:bodyPr/>
          <a:lstStyle/>
          <a:p>
            <a:endParaRPr lang="tr-TR"/>
          </a:p>
        </p:txBody>
      </p:sp>
      <p:pic>
        <p:nvPicPr>
          <p:cNvPr id="11" name="Image 1" descr="/home/claude/imgs/metamask_buy.png"/>
          <p:cNvPicPr>
            <a:picLocks noChangeAspect="1"/>
          </p:cNvPicPr>
          <p:nvPr/>
        </p:nvPicPr>
        <p:blipFill>
          <a:blip r:embed="rId4"/>
          <a:srcRect/>
          <a:stretch/>
        </p:blipFill>
        <p:spPr>
          <a:xfrm>
            <a:off x="6277356" y="1508760"/>
            <a:ext cx="5257800" cy="1691640"/>
          </a:xfrm>
          <a:prstGeom prst="rect">
            <a:avLst/>
          </a:prstGeom>
        </p:spPr>
      </p:pic>
      <p:sp>
        <p:nvSpPr>
          <p:cNvPr id="12" name="Text 8"/>
          <p:cNvSpPr/>
          <p:nvPr/>
        </p:nvSpPr>
        <p:spPr>
          <a:xfrm>
            <a:off x="6185916" y="3337560"/>
            <a:ext cx="5440680" cy="274320"/>
          </a:xfrm>
          <a:prstGeom prst="rect">
            <a:avLst/>
          </a:prstGeom>
          <a:noFill/>
          <a:ln/>
        </p:spPr>
        <p:txBody>
          <a:bodyPr wrap="square" lIns="0" tIns="0" rIns="0" bIns="0" rtlCol="0" anchor="ctr"/>
          <a:lstStyle/>
          <a:p>
            <a:pPr marL="0" indent="0">
              <a:buNone/>
            </a:pPr>
            <a:r>
              <a:rPr lang="en-US" sz="1300" b="1" dirty="0">
                <a:solidFill>
                  <a:srgbClr val="EDEEF7"/>
                </a:solidFill>
                <a:latin typeface="Georgia" pitchFamily="34" charset="0"/>
                <a:ea typeface="Georgia" pitchFamily="34" charset="-122"/>
                <a:cs typeface="Georgia" pitchFamily="34" charset="-120"/>
              </a:rPr>
              <a:t>2.  Player calls buyItem()</a:t>
            </a:r>
            <a:endParaRPr lang="en-US" sz="1300" dirty="0"/>
          </a:p>
        </p:txBody>
      </p:sp>
      <p:sp>
        <p:nvSpPr>
          <p:cNvPr id="13" name="Text 9"/>
          <p:cNvSpPr/>
          <p:nvPr/>
        </p:nvSpPr>
        <p:spPr>
          <a:xfrm>
            <a:off x="6185916" y="3602736"/>
            <a:ext cx="5440680" cy="228600"/>
          </a:xfrm>
          <a:prstGeom prst="rect">
            <a:avLst/>
          </a:prstGeom>
          <a:noFill/>
          <a:ln/>
        </p:spPr>
        <p:txBody>
          <a:bodyPr wrap="square" lIns="0" tIns="0" rIns="0" bIns="0" rtlCol="0" anchor="ctr"/>
          <a:lstStyle/>
          <a:p>
            <a:pPr marL="0" indent="0">
              <a:buNone/>
            </a:pPr>
            <a:r>
              <a:rPr lang="en-US" sz="1050" i="1" dirty="0">
                <a:solidFill>
                  <a:srgbClr val="6B7295"/>
                </a:solidFill>
                <a:latin typeface="Calibri" pitchFamily="34" charset="0"/>
                <a:ea typeface="Calibri" pitchFamily="34" charset="-122"/>
                <a:cs typeface="Calibri" pitchFamily="34" charset="-120"/>
              </a:rPr>
              <a:t>msg.value = 0.05 ETH, MetaMask signs</a:t>
            </a:r>
            <a:endParaRPr lang="en-US" sz="1050" dirty="0"/>
          </a:p>
        </p:txBody>
      </p:sp>
      <p:sp>
        <p:nvSpPr>
          <p:cNvPr id="14" name="Shape 10"/>
          <p:cNvSpPr/>
          <p:nvPr/>
        </p:nvSpPr>
        <p:spPr>
          <a:xfrm>
            <a:off x="562356" y="4023360"/>
            <a:ext cx="5440680" cy="1874520"/>
          </a:xfrm>
          <a:prstGeom prst="roundRect">
            <a:avLst>
              <a:gd name="adj" fmla="val 2927"/>
            </a:avLst>
          </a:prstGeom>
          <a:solidFill>
            <a:srgbClr val="151A33"/>
          </a:solidFill>
          <a:ln w="12700">
            <a:solidFill>
              <a:srgbClr val="2A3158"/>
            </a:solidFill>
            <a:prstDash val="solid"/>
          </a:ln>
        </p:spPr>
        <p:txBody>
          <a:bodyPr/>
          <a:lstStyle/>
          <a:p>
            <a:endParaRPr lang="tr-TR"/>
          </a:p>
        </p:txBody>
      </p:sp>
      <p:pic>
        <p:nvPicPr>
          <p:cNvPr id="15" name="Image 2" descr="/home/claude/imgs/buy_success.png"/>
          <p:cNvPicPr>
            <a:picLocks noChangeAspect="1"/>
          </p:cNvPicPr>
          <p:nvPr/>
        </p:nvPicPr>
        <p:blipFill>
          <a:blip r:embed="rId5"/>
          <a:srcRect/>
          <a:stretch/>
        </p:blipFill>
        <p:spPr>
          <a:xfrm>
            <a:off x="653796" y="4114800"/>
            <a:ext cx="5257800" cy="1691640"/>
          </a:xfrm>
          <a:prstGeom prst="rect">
            <a:avLst/>
          </a:prstGeom>
        </p:spPr>
      </p:pic>
      <p:sp>
        <p:nvSpPr>
          <p:cNvPr id="16" name="Text 11"/>
          <p:cNvSpPr/>
          <p:nvPr/>
        </p:nvSpPr>
        <p:spPr>
          <a:xfrm>
            <a:off x="562356" y="5943600"/>
            <a:ext cx="5440680" cy="274320"/>
          </a:xfrm>
          <a:prstGeom prst="rect">
            <a:avLst/>
          </a:prstGeom>
          <a:noFill/>
          <a:ln/>
        </p:spPr>
        <p:txBody>
          <a:bodyPr wrap="square" lIns="0" tIns="0" rIns="0" bIns="0" rtlCol="0" anchor="ctr"/>
          <a:lstStyle/>
          <a:p>
            <a:pPr marL="0" indent="0">
              <a:buNone/>
            </a:pPr>
            <a:r>
              <a:rPr lang="en-US" sz="1300" b="1" dirty="0">
                <a:solidFill>
                  <a:srgbClr val="EDEEF7"/>
                </a:solidFill>
                <a:latin typeface="Georgia" pitchFamily="34" charset="0"/>
                <a:ea typeface="Georgia" pitchFamily="34" charset="-122"/>
                <a:cs typeface="Georgia" pitchFamily="34" charset="-120"/>
              </a:rPr>
              <a:t>3.  Transaction confirmed</a:t>
            </a:r>
            <a:endParaRPr lang="en-US" sz="1300" dirty="0"/>
          </a:p>
        </p:txBody>
      </p:sp>
      <p:sp>
        <p:nvSpPr>
          <p:cNvPr id="17" name="Text 12"/>
          <p:cNvSpPr/>
          <p:nvPr/>
        </p:nvSpPr>
        <p:spPr>
          <a:xfrm>
            <a:off x="562356" y="6208776"/>
            <a:ext cx="5440680" cy="228600"/>
          </a:xfrm>
          <a:prstGeom prst="rect">
            <a:avLst/>
          </a:prstGeom>
          <a:noFill/>
          <a:ln/>
        </p:spPr>
        <p:txBody>
          <a:bodyPr wrap="square" lIns="0" tIns="0" rIns="0" bIns="0" rtlCol="0" anchor="ctr"/>
          <a:lstStyle/>
          <a:p>
            <a:pPr marL="0" indent="0">
              <a:buNone/>
            </a:pPr>
            <a:r>
              <a:rPr lang="en-US" sz="1050" i="1" dirty="0">
                <a:solidFill>
                  <a:srgbClr val="6B7295"/>
                </a:solidFill>
                <a:latin typeface="Calibri" pitchFamily="34" charset="0"/>
                <a:ea typeface="Calibri" pitchFamily="34" charset="-122"/>
                <a:cs typeface="Calibri" pitchFamily="34" charset="-120"/>
              </a:rPr>
              <a:t>Mined in ~12s on Sepolia</a:t>
            </a:r>
            <a:endParaRPr lang="en-US" sz="1050" dirty="0"/>
          </a:p>
        </p:txBody>
      </p:sp>
      <p:sp>
        <p:nvSpPr>
          <p:cNvPr id="18" name="Shape 13"/>
          <p:cNvSpPr/>
          <p:nvPr/>
        </p:nvSpPr>
        <p:spPr>
          <a:xfrm>
            <a:off x="6185916" y="4023360"/>
            <a:ext cx="5440680" cy="1874520"/>
          </a:xfrm>
          <a:prstGeom prst="roundRect">
            <a:avLst>
              <a:gd name="adj" fmla="val 2927"/>
            </a:avLst>
          </a:prstGeom>
          <a:solidFill>
            <a:srgbClr val="151A33"/>
          </a:solidFill>
          <a:ln w="12700">
            <a:solidFill>
              <a:srgbClr val="2A3158"/>
            </a:solidFill>
            <a:prstDash val="solid"/>
          </a:ln>
        </p:spPr>
        <p:txBody>
          <a:bodyPr/>
          <a:lstStyle/>
          <a:p>
            <a:endParaRPr lang="tr-TR"/>
          </a:p>
        </p:txBody>
      </p:sp>
      <p:pic>
        <p:nvPicPr>
          <p:cNvPr id="19" name="Image 3" descr="/home/claude/imgs/new_owner.png"/>
          <p:cNvPicPr>
            <a:picLocks noChangeAspect="1"/>
          </p:cNvPicPr>
          <p:nvPr/>
        </p:nvPicPr>
        <p:blipFill>
          <a:blip r:embed="rId6"/>
          <a:srcRect/>
          <a:stretch/>
        </p:blipFill>
        <p:spPr>
          <a:xfrm>
            <a:off x="6277356" y="4114800"/>
            <a:ext cx="5257800" cy="1691640"/>
          </a:xfrm>
          <a:prstGeom prst="rect">
            <a:avLst/>
          </a:prstGeom>
        </p:spPr>
      </p:pic>
      <p:sp>
        <p:nvSpPr>
          <p:cNvPr id="20" name="Text 14"/>
          <p:cNvSpPr/>
          <p:nvPr/>
        </p:nvSpPr>
        <p:spPr>
          <a:xfrm>
            <a:off x="6185916" y="5943600"/>
            <a:ext cx="5440680" cy="274320"/>
          </a:xfrm>
          <a:prstGeom prst="rect">
            <a:avLst/>
          </a:prstGeom>
          <a:noFill/>
          <a:ln/>
        </p:spPr>
        <p:txBody>
          <a:bodyPr wrap="square" lIns="0" tIns="0" rIns="0" bIns="0" rtlCol="0" anchor="ctr"/>
          <a:lstStyle/>
          <a:p>
            <a:pPr marL="0" indent="0">
              <a:buNone/>
            </a:pPr>
            <a:r>
              <a:rPr lang="en-US" sz="1300" b="1" dirty="0">
                <a:solidFill>
                  <a:srgbClr val="EDEEF7"/>
                </a:solidFill>
                <a:latin typeface="Georgia" pitchFamily="34" charset="0"/>
                <a:ea typeface="Georgia" pitchFamily="34" charset="-122"/>
                <a:cs typeface="Georgia" pitchFamily="34" charset="-120"/>
              </a:rPr>
              <a:t>4.  Ownership transferred</a:t>
            </a:r>
            <a:endParaRPr lang="en-US" sz="1300" dirty="0"/>
          </a:p>
        </p:txBody>
      </p:sp>
      <p:sp>
        <p:nvSpPr>
          <p:cNvPr id="21" name="Text 15"/>
          <p:cNvSpPr/>
          <p:nvPr/>
        </p:nvSpPr>
        <p:spPr>
          <a:xfrm>
            <a:off x="6185916" y="6208776"/>
            <a:ext cx="5440680" cy="228600"/>
          </a:xfrm>
          <a:prstGeom prst="rect">
            <a:avLst/>
          </a:prstGeom>
          <a:noFill/>
          <a:ln/>
        </p:spPr>
        <p:txBody>
          <a:bodyPr wrap="square" lIns="0" tIns="0" rIns="0" bIns="0" rtlCol="0" anchor="ctr"/>
          <a:lstStyle/>
          <a:p>
            <a:pPr marL="0" indent="0">
              <a:buNone/>
            </a:pPr>
            <a:r>
              <a:rPr lang="en-US" sz="1050" i="1" dirty="0">
                <a:solidFill>
                  <a:srgbClr val="6B7295"/>
                </a:solidFill>
                <a:latin typeface="Calibri" pitchFamily="34" charset="0"/>
                <a:ea typeface="Calibri" pitchFamily="34" charset="-122"/>
                <a:cs typeface="Calibri" pitchFamily="34" charset="-120"/>
              </a:rPr>
              <a:t>getItem() returns new owner address</a:t>
            </a:r>
            <a:endParaRPr lang="en-US" sz="1050" dirty="0"/>
          </a:p>
        </p:txBody>
      </p:sp>
      <p:sp>
        <p:nvSpPr>
          <p:cNvPr id="22" name="Text 16"/>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6B7295"/>
                </a:solidFill>
                <a:latin typeface="Calibri" pitchFamily="34" charset="0"/>
                <a:ea typeface="Calibri" pitchFamily="34" charset="-122"/>
                <a:cs typeface="Calibri" pitchFamily="34" charset="-120"/>
              </a:rPr>
              <a:t>EtherQuest Marketplace</a:t>
            </a:r>
            <a:r>
              <a:rPr lang="en-US" sz="900" dirty="0">
                <a:solidFill>
                  <a:srgbClr val="6B7295"/>
                </a:solidFill>
              </a:rPr>
              <a:t>   |   </a:t>
            </a:r>
            <a:r>
              <a:rPr lang="en-US" sz="900" dirty="0">
                <a:solidFill>
                  <a:srgbClr val="6B7295"/>
                </a:solidFill>
                <a:latin typeface="Consolas" pitchFamily="34" charset="0"/>
                <a:ea typeface="Consolas" pitchFamily="34" charset="-122"/>
                <a:cs typeface="Consolas" pitchFamily="34" charset="-120"/>
              </a:rPr>
              <a:t>Sepolia: 0xEd3B...0dDa</a:t>
            </a:r>
            <a:endParaRPr lang="en-US" sz="900" dirty="0"/>
          </a:p>
        </p:txBody>
      </p:sp>
      <p:sp>
        <p:nvSpPr>
          <p:cNvPr id="23" name="Text 17"/>
          <p:cNvSpPr/>
          <p:nvPr/>
        </p:nvSpPr>
        <p:spPr>
          <a:xfrm>
            <a:off x="11091672" y="6492240"/>
            <a:ext cx="640080" cy="274320"/>
          </a:xfrm>
          <a:prstGeom prst="rect">
            <a:avLst/>
          </a:prstGeom>
          <a:noFill/>
          <a:ln/>
        </p:spPr>
        <p:txBody>
          <a:bodyPr wrap="square" lIns="0" tIns="0" rIns="0" bIns="0" rtlCol="0" anchor="ctr"/>
          <a:lstStyle/>
          <a:p>
            <a:pPr marL="0" indent="0" algn="r">
              <a:buNone/>
            </a:pPr>
            <a:r>
              <a:rPr lang="en-US" sz="900" dirty="0">
                <a:solidFill>
                  <a:srgbClr val="6B7295"/>
                </a:solidFill>
                <a:latin typeface="Calibri" pitchFamily="34" charset="0"/>
                <a:ea typeface="Calibri" pitchFamily="34" charset="-122"/>
                <a:cs typeface="Calibri" pitchFamily="34" charset="-120"/>
              </a:rPr>
              <a:t>7 / 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lIns="0" tIns="0" rIns="0" bIns="0" rtlCol="0" anchor="ctr"/>
          <a:lstStyle/>
          <a:p>
            <a:pPr marL="0" indent="0">
              <a:buNone/>
            </a:pPr>
            <a:r>
              <a:rPr lang="en-US" sz="3600" b="1" dirty="0">
                <a:solidFill>
                  <a:srgbClr val="EDEEF7"/>
                </a:solidFill>
                <a:latin typeface="Georgia" pitchFamily="34" charset="0"/>
                <a:ea typeface="Georgia" pitchFamily="34" charset="-122"/>
                <a:cs typeface="Georgia" pitchFamily="34" charset="-120"/>
              </a:rPr>
              <a:t>Limitations</a:t>
            </a:r>
            <a:endParaRPr lang="en-US" sz="3600" dirty="0"/>
          </a:p>
        </p:txBody>
      </p:sp>
      <p:sp>
        <p:nvSpPr>
          <p:cNvPr id="3" name="Text 1"/>
          <p:cNvSpPr/>
          <p:nvPr/>
        </p:nvSpPr>
        <p:spPr>
          <a:xfrm>
            <a:off x="548640" y="914400"/>
            <a:ext cx="10972800" cy="365760"/>
          </a:xfrm>
          <a:prstGeom prst="rect">
            <a:avLst/>
          </a:prstGeom>
          <a:noFill/>
          <a:ln/>
        </p:spPr>
        <p:txBody>
          <a:bodyPr wrap="square" lIns="0" tIns="0" rIns="0" bIns="0" rtlCol="0" anchor="ctr"/>
          <a:lstStyle/>
          <a:p>
            <a:pPr marL="0" indent="0">
              <a:buNone/>
            </a:pPr>
            <a:r>
              <a:rPr lang="en-US" sz="1500" i="1" dirty="0">
                <a:solidFill>
                  <a:srgbClr val="A8AEC9"/>
                </a:solidFill>
                <a:latin typeface="Calibri" pitchFamily="34" charset="0"/>
                <a:ea typeface="Calibri" pitchFamily="34" charset="-122"/>
                <a:cs typeface="Calibri" pitchFamily="34" charset="-120"/>
              </a:rPr>
              <a:t>Honest engineering trade-offs — what this design cannot solve</a:t>
            </a:r>
            <a:endParaRPr lang="en-US" sz="1500" dirty="0"/>
          </a:p>
        </p:txBody>
      </p:sp>
      <p:sp>
        <p:nvSpPr>
          <p:cNvPr id="4" name="Shape 2"/>
          <p:cNvSpPr/>
          <p:nvPr/>
        </p:nvSpPr>
        <p:spPr>
          <a:xfrm>
            <a:off x="548640" y="1463040"/>
            <a:ext cx="5532120" cy="1417320"/>
          </a:xfrm>
          <a:prstGeom prst="roundRect">
            <a:avLst>
              <a:gd name="adj" fmla="val 5161"/>
            </a:avLst>
          </a:prstGeom>
          <a:solidFill>
            <a:srgbClr val="151A33"/>
          </a:solidFill>
          <a:ln w="12700">
            <a:solidFill>
              <a:srgbClr val="2A3158"/>
            </a:solidFill>
            <a:prstDash val="solid"/>
          </a:ln>
        </p:spPr>
        <p:txBody>
          <a:bodyPr/>
          <a:lstStyle/>
          <a:p>
            <a:endParaRPr lang="tr-TR"/>
          </a:p>
        </p:txBody>
      </p:sp>
      <p:pic>
        <p:nvPicPr>
          <p:cNvPr id="5" name="Image 0" descr="preencoded.png"/>
          <p:cNvPicPr>
            <a:picLocks noChangeAspect="1"/>
          </p:cNvPicPr>
          <p:nvPr/>
        </p:nvPicPr>
        <p:blipFill>
          <a:blip r:embed="rId3"/>
          <a:stretch>
            <a:fillRect/>
          </a:stretch>
        </p:blipFill>
        <p:spPr>
          <a:xfrm>
            <a:off x="777240" y="1737360"/>
            <a:ext cx="502920" cy="502920"/>
          </a:xfrm>
          <a:prstGeom prst="rect">
            <a:avLst/>
          </a:prstGeom>
        </p:spPr>
      </p:pic>
      <p:sp>
        <p:nvSpPr>
          <p:cNvPr id="6" name="Text 3"/>
          <p:cNvSpPr/>
          <p:nvPr/>
        </p:nvSpPr>
        <p:spPr>
          <a:xfrm>
            <a:off x="1463040" y="1627632"/>
            <a:ext cx="4480560" cy="365760"/>
          </a:xfrm>
          <a:prstGeom prst="rect">
            <a:avLst/>
          </a:prstGeom>
          <a:noFill/>
          <a:ln/>
        </p:spPr>
        <p:txBody>
          <a:bodyPr wrap="square" lIns="0" tIns="0" rIns="0" bIns="0" rtlCol="0" anchor="ctr"/>
          <a:lstStyle/>
          <a:p>
            <a:pPr marL="0" indent="0">
              <a:buNone/>
            </a:pPr>
            <a:r>
              <a:rPr lang="en-US" sz="1400" b="1" dirty="0">
                <a:solidFill>
                  <a:srgbClr val="EDEEF7"/>
                </a:solidFill>
                <a:latin typeface="Georgia" pitchFamily="34" charset="0"/>
                <a:ea typeface="Georgia" pitchFamily="34" charset="-122"/>
                <a:cs typeface="Georgia" pitchFamily="34" charset="-120"/>
              </a:rPr>
              <a:t>Gas costs scale with usage</a:t>
            </a:r>
            <a:endParaRPr lang="en-US" sz="1400" dirty="0"/>
          </a:p>
        </p:txBody>
      </p:sp>
      <p:sp>
        <p:nvSpPr>
          <p:cNvPr id="7" name="Text 4"/>
          <p:cNvSpPr/>
          <p:nvPr/>
        </p:nvSpPr>
        <p:spPr>
          <a:xfrm>
            <a:off x="1463040" y="1965960"/>
            <a:ext cx="4480560" cy="868680"/>
          </a:xfrm>
          <a:prstGeom prst="rect">
            <a:avLst/>
          </a:prstGeom>
          <a:noFill/>
          <a:ln/>
        </p:spPr>
        <p:txBody>
          <a:bodyPr wrap="square" lIns="0" tIns="0" rIns="0" bIns="0" rtlCol="0" anchor="t"/>
          <a:lstStyle/>
          <a:p>
            <a:pPr marL="0" indent="0">
              <a:buNone/>
            </a:pPr>
            <a:r>
              <a:rPr lang="en-US" sz="1100" dirty="0">
                <a:solidFill>
                  <a:srgbClr val="8E919E"/>
                </a:solidFill>
                <a:latin typeface="Calibri" pitchFamily="34" charset="0"/>
                <a:ea typeface="Calibri" pitchFamily="34" charset="-122"/>
                <a:cs typeface="Calibri" pitchFamily="34" charset="-120"/>
              </a:rPr>
              <a:t>On Ethereum L1 a $1 trade can cost $0.50+ in gas. A real deployment would target a Layer 2 (Polygon, Arbitrum, Base) where fees fall to fractions of a cent.</a:t>
            </a:r>
            <a:endParaRPr lang="en-US" sz="1100" dirty="0">
              <a:solidFill>
                <a:srgbClr val="8E919E"/>
              </a:solidFill>
            </a:endParaRPr>
          </a:p>
        </p:txBody>
      </p:sp>
      <p:sp>
        <p:nvSpPr>
          <p:cNvPr id="8" name="Shape 5"/>
          <p:cNvSpPr/>
          <p:nvPr/>
        </p:nvSpPr>
        <p:spPr>
          <a:xfrm>
            <a:off x="6263640" y="1463040"/>
            <a:ext cx="5532120" cy="1417320"/>
          </a:xfrm>
          <a:prstGeom prst="roundRect">
            <a:avLst>
              <a:gd name="adj" fmla="val 5161"/>
            </a:avLst>
          </a:prstGeom>
          <a:solidFill>
            <a:srgbClr val="151A33"/>
          </a:solidFill>
          <a:ln w="12700">
            <a:solidFill>
              <a:srgbClr val="2A3158"/>
            </a:solidFill>
            <a:prstDash val="solid"/>
          </a:ln>
        </p:spPr>
        <p:txBody>
          <a:bodyPr/>
          <a:lstStyle/>
          <a:p>
            <a:endParaRPr lang="tr-TR"/>
          </a:p>
        </p:txBody>
      </p:sp>
      <p:pic>
        <p:nvPicPr>
          <p:cNvPr id="9" name="Image 1" descr="preencoded.png"/>
          <p:cNvPicPr>
            <a:picLocks noChangeAspect="1"/>
          </p:cNvPicPr>
          <p:nvPr/>
        </p:nvPicPr>
        <p:blipFill>
          <a:blip r:embed="rId4"/>
          <a:stretch>
            <a:fillRect/>
          </a:stretch>
        </p:blipFill>
        <p:spPr>
          <a:xfrm>
            <a:off x="6492240" y="1737360"/>
            <a:ext cx="502920" cy="502920"/>
          </a:xfrm>
          <a:prstGeom prst="rect">
            <a:avLst/>
          </a:prstGeom>
        </p:spPr>
      </p:pic>
      <p:sp>
        <p:nvSpPr>
          <p:cNvPr id="10" name="Text 6"/>
          <p:cNvSpPr/>
          <p:nvPr/>
        </p:nvSpPr>
        <p:spPr>
          <a:xfrm>
            <a:off x="7178040" y="1627632"/>
            <a:ext cx="4480560" cy="365760"/>
          </a:xfrm>
          <a:prstGeom prst="rect">
            <a:avLst/>
          </a:prstGeom>
          <a:noFill/>
          <a:ln/>
        </p:spPr>
        <p:txBody>
          <a:bodyPr wrap="square" lIns="0" tIns="0" rIns="0" bIns="0" rtlCol="0" anchor="ctr"/>
          <a:lstStyle/>
          <a:p>
            <a:pPr marL="0" indent="0">
              <a:buNone/>
            </a:pPr>
            <a:r>
              <a:rPr lang="tr-TR" sz="1400" b="1" dirty="0">
                <a:solidFill>
                  <a:srgbClr val="EDEEF7"/>
                </a:solidFill>
                <a:latin typeface="Georgia" pitchFamily="34" charset="0"/>
                <a:ea typeface="Georgia" pitchFamily="34" charset="-122"/>
                <a:cs typeface="Georgia" pitchFamily="34" charset="-120"/>
              </a:rPr>
              <a:t>Player </a:t>
            </a:r>
            <a:r>
              <a:rPr lang="tr-TR" sz="1400" b="1" dirty="0" err="1">
                <a:solidFill>
                  <a:srgbClr val="EDEEF7"/>
                </a:solidFill>
                <a:latin typeface="Georgia" pitchFamily="34" charset="0"/>
                <a:ea typeface="Georgia" pitchFamily="34" charset="-122"/>
                <a:cs typeface="Georgia" pitchFamily="34" charset="-120"/>
              </a:rPr>
              <a:t>minting</a:t>
            </a:r>
            <a:endParaRPr lang="en-US" sz="1400" dirty="0"/>
          </a:p>
        </p:txBody>
      </p:sp>
      <p:sp>
        <p:nvSpPr>
          <p:cNvPr id="11" name="Text 7"/>
          <p:cNvSpPr/>
          <p:nvPr/>
        </p:nvSpPr>
        <p:spPr>
          <a:xfrm>
            <a:off x="7178040" y="1965960"/>
            <a:ext cx="4480560" cy="868680"/>
          </a:xfrm>
          <a:prstGeom prst="rect">
            <a:avLst/>
          </a:prstGeom>
          <a:noFill/>
          <a:ln/>
        </p:spPr>
        <p:txBody>
          <a:bodyPr wrap="square" lIns="0" tIns="0" rIns="0" bIns="0" rtlCol="0" anchor="t"/>
          <a:lstStyle/>
          <a:p>
            <a:r>
              <a:rPr lang="en-US" sz="1100" dirty="0">
                <a:solidFill>
                  <a:srgbClr val="8E919E"/>
                </a:solidFill>
              </a:rPr>
              <a:t>Centralized minting is a deliberate trade-off. Pure player-driven minting is possible but requires economic safeguards (level gates, stat caps, bonding curves) outside this project's scope.</a:t>
            </a:r>
          </a:p>
        </p:txBody>
      </p:sp>
      <p:sp>
        <p:nvSpPr>
          <p:cNvPr id="12" name="Shape 8"/>
          <p:cNvSpPr/>
          <p:nvPr/>
        </p:nvSpPr>
        <p:spPr>
          <a:xfrm>
            <a:off x="548640" y="3044952"/>
            <a:ext cx="5532120" cy="1417320"/>
          </a:xfrm>
          <a:prstGeom prst="roundRect">
            <a:avLst>
              <a:gd name="adj" fmla="val 5161"/>
            </a:avLst>
          </a:prstGeom>
          <a:solidFill>
            <a:srgbClr val="151A33"/>
          </a:solidFill>
          <a:ln w="12700">
            <a:solidFill>
              <a:srgbClr val="2A3158"/>
            </a:solidFill>
            <a:prstDash val="solid"/>
          </a:ln>
        </p:spPr>
        <p:txBody>
          <a:bodyPr/>
          <a:lstStyle/>
          <a:p>
            <a:endParaRPr lang="tr-TR"/>
          </a:p>
        </p:txBody>
      </p:sp>
      <p:pic>
        <p:nvPicPr>
          <p:cNvPr id="13" name="Image 2" descr="preencoded.png"/>
          <p:cNvPicPr>
            <a:picLocks noChangeAspect="1"/>
          </p:cNvPicPr>
          <p:nvPr/>
        </p:nvPicPr>
        <p:blipFill>
          <a:blip r:embed="rId5"/>
          <a:stretch>
            <a:fillRect/>
          </a:stretch>
        </p:blipFill>
        <p:spPr>
          <a:xfrm>
            <a:off x="777240" y="3319272"/>
            <a:ext cx="502920" cy="502920"/>
          </a:xfrm>
          <a:prstGeom prst="rect">
            <a:avLst/>
          </a:prstGeom>
        </p:spPr>
      </p:pic>
      <p:sp>
        <p:nvSpPr>
          <p:cNvPr id="14" name="Text 9"/>
          <p:cNvSpPr/>
          <p:nvPr/>
        </p:nvSpPr>
        <p:spPr>
          <a:xfrm>
            <a:off x="1463040" y="3209544"/>
            <a:ext cx="4480560" cy="365760"/>
          </a:xfrm>
          <a:prstGeom prst="rect">
            <a:avLst/>
          </a:prstGeom>
          <a:noFill/>
          <a:ln/>
        </p:spPr>
        <p:txBody>
          <a:bodyPr wrap="square" lIns="0" tIns="0" rIns="0" bIns="0" rtlCol="0" anchor="ctr"/>
          <a:lstStyle/>
          <a:p>
            <a:pPr marL="0" indent="0">
              <a:buNone/>
            </a:pPr>
            <a:r>
              <a:rPr lang="en-US" sz="1400" b="1" dirty="0">
                <a:solidFill>
                  <a:srgbClr val="EDEEF7"/>
                </a:solidFill>
                <a:latin typeface="Georgia" pitchFamily="34" charset="0"/>
                <a:ea typeface="Georgia" pitchFamily="34" charset="-122"/>
                <a:cs typeface="Georgia" pitchFamily="34" charset="-120"/>
              </a:rPr>
              <a:t>Throughput is bounded</a:t>
            </a:r>
            <a:endParaRPr lang="en-US" sz="1400" dirty="0"/>
          </a:p>
        </p:txBody>
      </p:sp>
      <p:sp>
        <p:nvSpPr>
          <p:cNvPr id="15" name="Text 10"/>
          <p:cNvSpPr/>
          <p:nvPr/>
        </p:nvSpPr>
        <p:spPr>
          <a:xfrm>
            <a:off x="1463040" y="3547872"/>
            <a:ext cx="4480560" cy="868680"/>
          </a:xfrm>
          <a:prstGeom prst="rect">
            <a:avLst/>
          </a:prstGeom>
          <a:noFill/>
          <a:ln/>
        </p:spPr>
        <p:txBody>
          <a:bodyPr wrap="square" lIns="0" tIns="0" rIns="0" bIns="0" rtlCol="0" anchor="t"/>
          <a:lstStyle/>
          <a:p>
            <a:pPr marL="0" indent="0">
              <a:buNone/>
            </a:pPr>
            <a:r>
              <a:rPr lang="en-US" sz="1100" dirty="0">
                <a:solidFill>
                  <a:srgbClr val="A8AEC9"/>
                </a:solidFill>
                <a:latin typeface="Calibri" pitchFamily="34" charset="0"/>
                <a:ea typeface="Calibri" pitchFamily="34" charset="-122"/>
                <a:cs typeface="Calibri" pitchFamily="34" charset="-120"/>
              </a:rPr>
              <a:t>A million trades per day exceeds L1 capacity. Production designs use L2 rollups or app-specific chains for the trade volume.</a:t>
            </a:r>
            <a:endParaRPr lang="en-US" sz="1100" dirty="0"/>
          </a:p>
        </p:txBody>
      </p:sp>
      <p:sp>
        <p:nvSpPr>
          <p:cNvPr id="16" name="Shape 11"/>
          <p:cNvSpPr/>
          <p:nvPr/>
        </p:nvSpPr>
        <p:spPr>
          <a:xfrm>
            <a:off x="6263640" y="3044952"/>
            <a:ext cx="5532120" cy="1417320"/>
          </a:xfrm>
          <a:prstGeom prst="roundRect">
            <a:avLst>
              <a:gd name="adj" fmla="val 5161"/>
            </a:avLst>
          </a:prstGeom>
          <a:solidFill>
            <a:srgbClr val="151A33"/>
          </a:solidFill>
          <a:ln w="12700">
            <a:solidFill>
              <a:srgbClr val="2A3158"/>
            </a:solidFill>
            <a:prstDash val="solid"/>
          </a:ln>
        </p:spPr>
        <p:txBody>
          <a:bodyPr/>
          <a:lstStyle/>
          <a:p>
            <a:endParaRPr lang="tr-TR"/>
          </a:p>
        </p:txBody>
      </p:sp>
      <p:pic>
        <p:nvPicPr>
          <p:cNvPr id="17" name="Image 3" descr="preencoded.png"/>
          <p:cNvPicPr>
            <a:picLocks noChangeAspect="1"/>
          </p:cNvPicPr>
          <p:nvPr/>
        </p:nvPicPr>
        <p:blipFill>
          <a:blip r:embed="rId6"/>
          <a:stretch>
            <a:fillRect/>
          </a:stretch>
        </p:blipFill>
        <p:spPr>
          <a:xfrm>
            <a:off x="6492240" y="3319272"/>
            <a:ext cx="502920" cy="502920"/>
          </a:xfrm>
          <a:prstGeom prst="rect">
            <a:avLst/>
          </a:prstGeom>
        </p:spPr>
      </p:pic>
      <p:sp>
        <p:nvSpPr>
          <p:cNvPr id="18" name="Text 12"/>
          <p:cNvSpPr/>
          <p:nvPr/>
        </p:nvSpPr>
        <p:spPr>
          <a:xfrm>
            <a:off x="7178040" y="3209544"/>
            <a:ext cx="4480560" cy="365760"/>
          </a:xfrm>
          <a:prstGeom prst="rect">
            <a:avLst/>
          </a:prstGeom>
          <a:noFill/>
          <a:ln/>
        </p:spPr>
        <p:txBody>
          <a:bodyPr wrap="square" lIns="0" tIns="0" rIns="0" bIns="0" rtlCol="0" anchor="ctr"/>
          <a:lstStyle/>
          <a:p>
            <a:pPr marL="0" indent="0">
              <a:buNone/>
            </a:pPr>
            <a:r>
              <a:rPr lang="en-US" sz="1400" b="1" dirty="0">
                <a:solidFill>
                  <a:srgbClr val="EDEEF7"/>
                </a:solidFill>
                <a:latin typeface="Georgia" pitchFamily="34" charset="0"/>
                <a:ea typeface="Georgia" pitchFamily="34" charset="-122"/>
                <a:cs typeface="Georgia" pitchFamily="34" charset="-120"/>
              </a:rPr>
              <a:t>Studio adoption is required</a:t>
            </a:r>
            <a:endParaRPr lang="en-US" sz="1400" dirty="0"/>
          </a:p>
        </p:txBody>
      </p:sp>
      <p:sp>
        <p:nvSpPr>
          <p:cNvPr id="19" name="Text 13"/>
          <p:cNvSpPr/>
          <p:nvPr/>
        </p:nvSpPr>
        <p:spPr>
          <a:xfrm>
            <a:off x="7178040" y="3547872"/>
            <a:ext cx="4480560" cy="868680"/>
          </a:xfrm>
          <a:prstGeom prst="rect">
            <a:avLst/>
          </a:prstGeom>
          <a:noFill/>
          <a:ln/>
        </p:spPr>
        <p:txBody>
          <a:bodyPr wrap="square" lIns="0" tIns="0" rIns="0" bIns="0" rtlCol="0" anchor="t"/>
          <a:lstStyle/>
          <a:p>
            <a:pPr marL="0" indent="0">
              <a:buNone/>
            </a:pPr>
            <a:r>
              <a:rPr lang="en-US" sz="1100" dirty="0">
                <a:solidFill>
                  <a:srgbClr val="A8AEC9"/>
                </a:solidFill>
                <a:latin typeface="Calibri" pitchFamily="34" charset="0"/>
                <a:ea typeface="Calibri" pitchFamily="34" charset="-122"/>
                <a:cs typeface="Calibri" pitchFamily="34" charset="-120"/>
              </a:rPr>
              <a:t>Players cannot force a studio to </a:t>
            </a:r>
            <a:r>
              <a:rPr lang="en-US" sz="1100" dirty="0" err="1">
                <a:solidFill>
                  <a:srgbClr val="A8AEC9"/>
                </a:solidFill>
                <a:latin typeface="Calibri" pitchFamily="34" charset="0"/>
                <a:ea typeface="Calibri" pitchFamily="34" charset="-122"/>
                <a:cs typeface="Calibri" pitchFamily="34" charset="-120"/>
              </a:rPr>
              <a:t>inte</a:t>
            </a:r>
            <a:r>
              <a:rPr lang="tr-TR" sz="1100" dirty="0">
                <a:solidFill>
                  <a:srgbClr val="A8AEC9"/>
                </a:solidFill>
                <a:latin typeface="Calibri" pitchFamily="34" charset="0"/>
                <a:ea typeface="Calibri" pitchFamily="34" charset="-122"/>
                <a:cs typeface="Calibri" pitchFamily="34" charset="-120"/>
              </a:rPr>
              <a:t> </a:t>
            </a:r>
            <a:r>
              <a:rPr lang="en-US" sz="1100" dirty="0">
                <a:solidFill>
                  <a:srgbClr val="A8AEC9"/>
                </a:solidFill>
                <a:latin typeface="Calibri" pitchFamily="34" charset="0"/>
                <a:ea typeface="Calibri" pitchFamily="34" charset="-122"/>
                <a:cs typeface="Calibri" pitchFamily="34" charset="-120"/>
              </a:rPr>
              <a:t>grate the contract. The economic case has to be there — better player retention from real ownership is the lever.</a:t>
            </a:r>
            <a:endParaRPr lang="en-US" sz="1100" dirty="0"/>
          </a:p>
        </p:txBody>
      </p:sp>
      <p:sp>
        <p:nvSpPr>
          <p:cNvPr id="20" name="Shape 14"/>
          <p:cNvSpPr/>
          <p:nvPr/>
        </p:nvSpPr>
        <p:spPr>
          <a:xfrm>
            <a:off x="548640" y="4626864"/>
            <a:ext cx="5532120" cy="1417320"/>
          </a:xfrm>
          <a:prstGeom prst="roundRect">
            <a:avLst>
              <a:gd name="adj" fmla="val 5161"/>
            </a:avLst>
          </a:prstGeom>
          <a:solidFill>
            <a:srgbClr val="151A33"/>
          </a:solidFill>
          <a:ln w="12700">
            <a:solidFill>
              <a:srgbClr val="2A3158"/>
            </a:solidFill>
            <a:prstDash val="solid"/>
          </a:ln>
        </p:spPr>
        <p:txBody>
          <a:bodyPr/>
          <a:lstStyle/>
          <a:p>
            <a:endParaRPr lang="tr-TR"/>
          </a:p>
        </p:txBody>
      </p:sp>
      <p:pic>
        <p:nvPicPr>
          <p:cNvPr id="21" name="Image 4" descr="preencoded.png"/>
          <p:cNvPicPr>
            <a:picLocks noChangeAspect="1"/>
          </p:cNvPicPr>
          <p:nvPr/>
        </p:nvPicPr>
        <p:blipFill>
          <a:blip r:embed="rId7"/>
          <a:stretch>
            <a:fillRect/>
          </a:stretch>
        </p:blipFill>
        <p:spPr>
          <a:xfrm>
            <a:off x="777240" y="4901184"/>
            <a:ext cx="502920" cy="502920"/>
          </a:xfrm>
          <a:prstGeom prst="rect">
            <a:avLst/>
          </a:prstGeom>
        </p:spPr>
      </p:pic>
      <p:sp>
        <p:nvSpPr>
          <p:cNvPr id="22" name="Text 15"/>
          <p:cNvSpPr/>
          <p:nvPr/>
        </p:nvSpPr>
        <p:spPr>
          <a:xfrm>
            <a:off x="1463040" y="4791456"/>
            <a:ext cx="4480560" cy="365760"/>
          </a:xfrm>
          <a:prstGeom prst="rect">
            <a:avLst/>
          </a:prstGeom>
          <a:noFill/>
          <a:ln/>
        </p:spPr>
        <p:txBody>
          <a:bodyPr wrap="square" lIns="0" tIns="0" rIns="0" bIns="0" rtlCol="0" anchor="ctr"/>
          <a:lstStyle/>
          <a:p>
            <a:pPr marL="0" indent="0">
              <a:buNone/>
            </a:pPr>
            <a:r>
              <a:rPr lang="en-US" sz="1400" b="1" dirty="0">
                <a:solidFill>
                  <a:srgbClr val="EDEEF7"/>
                </a:solidFill>
                <a:latin typeface="Georgia" pitchFamily="34" charset="0"/>
                <a:ea typeface="Georgia" pitchFamily="34" charset="-122"/>
                <a:cs typeface="Georgia" pitchFamily="34" charset="-120"/>
              </a:rPr>
              <a:t>The game itself is out of scope</a:t>
            </a:r>
            <a:endParaRPr lang="en-US" sz="1400" dirty="0"/>
          </a:p>
        </p:txBody>
      </p:sp>
      <p:sp>
        <p:nvSpPr>
          <p:cNvPr id="23" name="Text 16"/>
          <p:cNvSpPr/>
          <p:nvPr/>
        </p:nvSpPr>
        <p:spPr>
          <a:xfrm>
            <a:off x="1463040" y="5129784"/>
            <a:ext cx="4480560" cy="868680"/>
          </a:xfrm>
          <a:prstGeom prst="rect">
            <a:avLst/>
          </a:prstGeom>
          <a:noFill/>
          <a:ln/>
        </p:spPr>
        <p:txBody>
          <a:bodyPr wrap="square" lIns="0" tIns="0" rIns="0" bIns="0" rtlCol="0" anchor="t"/>
          <a:lstStyle/>
          <a:p>
            <a:pPr marL="0" indent="0">
              <a:buNone/>
            </a:pPr>
            <a:r>
              <a:rPr lang="en-US" sz="1100" dirty="0">
                <a:solidFill>
                  <a:srgbClr val="A8AEC9"/>
                </a:solidFill>
                <a:latin typeface="Calibri" pitchFamily="34" charset="0"/>
                <a:ea typeface="Calibri" pitchFamily="34" charset="-122"/>
                <a:cs typeface="Calibri" pitchFamily="34" charset="-120"/>
              </a:rPr>
              <a:t>This project demonstrates the on-chain layer. A full client (Unity, art, sound, server backend) is several engineering quarters of work beyond this course.</a:t>
            </a:r>
            <a:endParaRPr lang="en-US" sz="1100" dirty="0"/>
          </a:p>
        </p:txBody>
      </p:sp>
      <p:sp>
        <p:nvSpPr>
          <p:cNvPr id="24" name="Shape 17"/>
          <p:cNvSpPr/>
          <p:nvPr/>
        </p:nvSpPr>
        <p:spPr>
          <a:xfrm>
            <a:off x="6263640" y="4626864"/>
            <a:ext cx="5532120" cy="1417320"/>
          </a:xfrm>
          <a:prstGeom prst="roundRect">
            <a:avLst>
              <a:gd name="adj" fmla="val 5161"/>
            </a:avLst>
          </a:prstGeom>
          <a:solidFill>
            <a:srgbClr val="151A33"/>
          </a:solidFill>
          <a:ln w="12700">
            <a:solidFill>
              <a:srgbClr val="2A3158"/>
            </a:solidFill>
            <a:prstDash val="solid"/>
          </a:ln>
        </p:spPr>
        <p:txBody>
          <a:bodyPr/>
          <a:lstStyle/>
          <a:p>
            <a:endParaRPr lang="tr-TR"/>
          </a:p>
        </p:txBody>
      </p:sp>
      <p:pic>
        <p:nvPicPr>
          <p:cNvPr id="25" name="Image 5" descr="preencoded.png"/>
          <p:cNvPicPr>
            <a:picLocks noChangeAspect="1"/>
          </p:cNvPicPr>
          <p:nvPr/>
        </p:nvPicPr>
        <p:blipFill>
          <a:blip r:embed="rId8"/>
          <a:stretch>
            <a:fillRect/>
          </a:stretch>
        </p:blipFill>
        <p:spPr>
          <a:xfrm>
            <a:off x="6492240" y="4901184"/>
            <a:ext cx="502920" cy="502920"/>
          </a:xfrm>
          <a:prstGeom prst="rect">
            <a:avLst/>
          </a:prstGeom>
        </p:spPr>
      </p:pic>
      <p:sp>
        <p:nvSpPr>
          <p:cNvPr id="26" name="Text 18"/>
          <p:cNvSpPr/>
          <p:nvPr/>
        </p:nvSpPr>
        <p:spPr>
          <a:xfrm>
            <a:off x="7178040" y="4791456"/>
            <a:ext cx="4480560" cy="365760"/>
          </a:xfrm>
          <a:prstGeom prst="rect">
            <a:avLst/>
          </a:prstGeom>
          <a:noFill/>
          <a:ln/>
        </p:spPr>
        <p:txBody>
          <a:bodyPr wrap="square" lIns="0" tIns="0" rIns="0" bIns="0" rtlCol="0" anchor="ctr"/>
          <a:lstStyle/>
          <a:p>
            <a:pPr marL="0" indent="0">
              <a:buNone/>
            </a:pPr>
            <a:r>
              <a:rPr lang="en-US" sz="1400" b="1" dirty="0">
                <a:solidFill>
                  <a:srgbClr val="EDEEF7"/>
                </a:solidFill>
                <a:latin typeface="Georgia" pitchFamily="34" charset="0"/>
                <a:ea typeface="Georgia" pitchFamily="34" charset="-122"/>
                <a:cs typeface="Georgia" pitchFamily="34" charset="-120"/>
              </a:rPr>
              <a:t>Lost keys = lost items, permanently</a:t>
            </a:r>
            <a:endParaRPr lang="en-US" sz="1400" dirty="0"/>
          </a:p>
        </p:txBody>
      </p:sp>
      <p:sp>
        <p:nvSpPr>
          <p:cNvPr id="27" name="Text 19"/>
          <p:cNvSpPr/>
          <p:nvPr/>
        </p:nvSpPr>
        <p:spPr>
          <a:xfrm>
            <a:off x="7178040" y="5129784"/>
            <a:ext cx="4480560" cy="868680"/>
          </a:xfrm>
          <a:prstGeom prst="rect">
            <a:avLst/>
          </a:prstGeom>
          <a:noFill/>
          <a:ln/>
        </p:spPr>
        <p:txBody>
          <a:bodyPr wrap="square" lIns="0" tIns="0" rIns="0" bIns="0" rtlCol="0" anchor="t"/>
          <a:lstStyle/>
          <a:p>
            <a:pPr marL="0" indent="0">
              <a:buNone/>
            </a:pPr>
            <a:r>
              <a:rPr lang="en-US" sz="1100" dirty="0">
                <a:solidFill>
                  <a:srgbClr val="A8AEC9"/>
                </a:solidFill>
                <a:latin typeface="Calibri" pitchFamily="34" charset="0"/>
                <a:ea typeface="Calibri" pitchFamily="34" charset="-122"/>
                <a:cs typeface="Calibri" pitchFamily="34" charset="-120"/>
              </a:rPr>
              <a:t>Self-custody is a feature and a risk. There is no “forgot password” flow. Production-grade games would offer optional social-recovery wallets.</a:t>
            </a:r>
            <a:endParaRPr lang="en-US" sz="1100" dirty="0"/>
          </a:p>
        </p:txBody>
      </p:sp>
      <p:sp>
        <p:nvSpPr>
          <p:cNvPr id="28" name="Text 20"/>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6B7295"/>
                </a:solidFill>
                <a:latin typeface="Calibri" pitchFamily="34" charset="0"/>
                <a:ea typeface="Calibri" pitchFamily="34" charset="-122"/>
                <a:cs typeface="Calibri" pitchFamily="34" charset="-120"/>
              </a:rPr>
              <a:t>EtherQuest Marketplace</a:t>
            </a:r>
            <a:r>
              <a:rPr lang="en-US" sz="900" dirty="0">
                <a:solidFill>
                  <a:srgbClr val="6B7295"/>
                </a:solidFill>
              </a:rPr>
              <a:t>   |   </a:t>
            </a:r>
            <a:r>
              <a:rPr lang="en-US" sz="900" dirty="0">
                <a:solidFill>
                  <a:srgbClr val="6B7295"/>
                </a:solidFill>
                <a:latin typeface="Consolas" pitchFamily="34" charset="0"/>
                <a:ea typeface="Consolas" pitchFamily="34" charset="-122"/>
                <a:cs typeface="Consolas" pitchFamily="34" charset="-120"/>
              </a:rPr>
              <a:t>Sepolia: 0xEd3B...0dDa</a:t>
            </a:r>
            <a:endParaRPr lang="en-US" sz="900" dirty="0"/>
          </a:p>
        </p:txBody>
      </p:sp>
      <p:sp>
        <p:nvSpPr>
          <p:cNvPr id="29" name="Text 21"/>
          <p:cNvSpPr/>
          <p:nvPr/>
        </p:nvSpPr>
        <p:spPr>
          <a:xfrm>
            <a:off x="11091672" y="6492240"/>
            <a:ext cx="640080" cy="274320"/>
          </a:xfrm>
          <a:prstGeom prst="rect">
            <a:avLst/>
          </a:prstGeom>
          <a:noFill/>
          <a:ln/>
        </p:spPr>
        <p:txBody>
          <a:bodyPr wrap="square" lIns="0" tIns="0" rIns="0" bIns="0" rtlCol="0" anchor="ctr"/>
          <a:lstStyle/>
          <a:p>
            <a:pPr marL="0" indent="0" algn="r">
              <a:buNone/>
            </a:pPr>
            <a:r>
              <a:rPr lang="en-US" sz="900" dirty="0">
                <a:solidFill>
                  <a:srgbClr val="6B7295"/>
                </a:solidFill>
                <a:latin typeface="Calibri" pitchFamily="34" charset="0"/>
                <a:ea typeface="Calibri" pitchFamily="34" charset="-122"/>
                <a:cs typeface="Calibri" pitchFamily="34" charset="-120"/>
              </a:rPr>
              <a:t>8 / 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F"/>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8B7CF6"/>
          </a:solidFill>
          <a:ln/>
        </p:spPr>
        <p:txBody>
          <a:bodyPr/>
          <a:lstStyle/>
          <a:p>
            <a:endParaRPr lang="tr-TR"/>
          </a:p>
        </p:txBody>
      </p:sp>
      <p:sp>
        <p:nvSpPr>
          <p:cNvPr id="3" name="Text 1"/>
          <p:cNvSpPr/>
          <p:nvPr/>
        </p:nvSpPr>
        <p:spPr>
          <a:xfrm>
            <a:off x="822960" y="640080"/>
            <a:ext cx="10058400" cy="411480"/>
          </a:xfrm>
          <a:prstGeom prst="rect">
            <a:avLst/>
          </a:prstGeom>
          <a:noFill/>
          <a:ln/>
        </p:spPr>
        <p:txBody>
          <a:bodyPr wrap="square" lIns="0" tIns="0" rIns="0" bIns="0" rtlCol="0" anchor="ctr"/>
          <a:lstStyle/>
          <a:p>
            <a:pPr marL="0" indent="0">
              <a:buNone/>
            </a:pPr>
            <a:r>
              <a:rPr lang="en-US" sz="1100" b="1" kern="0" spc="600" dirty="0">
                <a:solidFill>
                  <a:srgbClr val="8B7CF6"/>
                </a:solidFill>
                <a:latin typeface="Calibri" pitchFamily="34" charset="0"/>
                <a:ea typeface="Calibri" pitchFamily="34" charset="-122"/>
                <a:cs typeface="Calibri" pitchFamily="34" charset="-120"/>
              </a:rPr>
              <a:t>THANK YOU</a:t>
            </a:r>
            <a:endParaRPr lang="en-US" sz="1100" dirty="0"/>
          </a:p>
        </p:txBody>
      </p:sp>
      <p:sp>
        <p:nvSpPr>
          <p:cNvPr id="4" name="Text 2"/>
          <p:cNvSpPr/>
          <p:nvPr/>
        </p:nvSpPr>
        <p:spPr>
          <a:xfrm>
            <a:off x="822960" y="1097280"/>
            <a:ext cx="10058400" cy="1097280"/>
          </a:xfrm>
          <a:prstGeom prst="rect">
            <a:avLst/>
          </a:prstGeom>
          <a:noFill/>
          <a:ln/>
        </p:spPr>
        <p:txBody>
          <a:bodyPr wrap="square" lIns="0" tIns="0" rIns="0" bIns="0" rtlCol="0" anchor="ctr"/>
          <a:lstStyle/>
          <a:p>
            <a:pPr marL="0" indent="0">
              <a:buNone/>
            </a:pPr>
            <a:r>
              <a:rPr lang="en-US" sz="6000" b="1" i="1" dirty="0">
                <a:solidFill>
                  <a:srgbClr val="EDEEF7"/>
                </a:solidFill>
                <a:latin typeface="Georgia" pitchFamily="34" charset="0"/>
                <a:ea typeface="Georgia" pitchFamily="34" charset="-122"/>
                <a:cs typeface="Georgia" pitchFamily="34" charset="-120"/>
              </a:rPr>
              <a:t>Questions?</a:t>
            </a:r>
            <a:endParaRPr lang="en-US" sz="6000" dirty="0"/>
          </a:p>
        </p:txBody>
      </p:sp>
      <p:sp>
        <p:nvSpPr>
          <p:cNvPr id="5" name="Shape 3"/>
          <p:cNvSpPr/>
          <p:nvPr/>
        </p:nvSpPr>
        <p:spPr>
          <a:xfrm>
            <a:off x="822960" y="2468880"/>
            <a:ext cx="6583680" cy="3383280"/>
          </a:xfrm>
          <a:prstGeom prst="roundRect">
            <a:avLst>
              <a:gd name="adj" fmla="val 2162"/>
            </a:avLst>
          </a:prstGeom>
          <a:solidFill>
            <a:srgbClr val="151A33"/>
          </a:solidFill>
          <a:ln w="12700">
            <a:solidFill>
              <a:srgbClr val="2A3158"/>
            </a:solidFill>
            <a:prstDash val="solid"/>
          </a:ln>
        </p:spPr>
        <p:txBody>
          <a:bodyPr/>
          <a:lstStyle/>
          <a:p>
            <a:endParaRPr lang="tr-TR"/>
          </a:p>
        </p:txBody>
      </p:sp>
      <p:sp>
        <p:nvSpPr>
          <p:cNvPr id="6" name="Text 4"/>
          <p:cNvSpPr/>
          <p:nvPr/>
        </p:nvSpPr>
        <p:spPr>
          <a:xfrm>
            <a:off x="1051560" y="2606040"/>
            <a:ext cx="5943600" cy="411480"/>
          </a:xfrm>
          <a:prstGeom prst="rect">
            <a:avLst/>
          </a:prstGeom>
          <a:noFill/>
          <a:ln/>
        </p:spPr>
        <p:txBody>
          <a:bodyPr wrap="square" lIns="0" tIns="0" rIns="0" bIns="0" rtlCol="0" anchor="ctr"/>
          <a:lstStyle/>
          <a:p>
            <a:pPr marL="0" indent="0">
              <a:buNone/>
            </a:pPr>
            <a:r>
              <a:rPr lang="en-US" sz="1800" b="1" dirty="0">
                <a:solidFill>
                  <a:srgbClr val="F4A261"/>
                </a:solidFill>
                <a:latin typeface="Georgia" pitchFamily="34" charset="0"/>
                <a:ea typeface="Georgia" pitchFamily="34" charset="-122"/>
                <a:cs typeface="Georgia" pitchFamily="34" charset="-120"/>
              </a:rPr>
              <a:t>What </a:t>
            </a:r>
            <a:r>
              <a:rPr lang="tr-TR" b="1" dirty="0">
                <a:solidFill>
                  <a:srgbClr val="F4A261"/>
                </a:solidFill>
                <a:latin typeface="Georgia" pitchFamily="34" charset="0"/>
                <a:ea typeface="Georgia" pitchFamily="34" charset="-122"/>
                <a:cs typeface="Georgia" pitchFamily="34" charset="-120"/>
              </a:rPr>
              <a:t>I</a:t>
            </a:r>
            <a:r>
              <a:rPr lang="en-US" sz="1800" b="1" dirty="0">
                <a:solidFill>
                  <a:srgbClr val="F4A261"/>
                </a:solidFill>
                <a:latin typeface="Georgia" pitchFamily="34" charset="0"/>
                <a:ea typeface="Georgia" pitchFamily="34" charset="-122"/>
                <a:cs typeface="Georgia" pitchFamily="34" charset="-120"/>
              </a:rPr>
              <a:t> built</a:t>
            </a:r>
            <a:endParaRPr lang="en-US" sz="1800" dirty="0"/>
          </a:p>
        </p:txBody>
      </p:sp>
      <p:sp>
        <p:nvSpPr>
          <p:cNvPr id="7" name="Text 5"/>
          <p:cNvSpPr/>
          <p:nvPr/>
        </p:nvSpPr>
        <p:spPr>
          <a:xfrm>
            <a:off x="1280160" y="3108960"/>
            <a:ext cx="5943600" cy="2651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A8AEC9"/>
                </a:solidFill>
                <a:latin typeface="Calibri" pitchFamily="34" charset="0"/>
                <a:ea typeface="Calibri" pitchFamily="34" charset="-122"/>
                <a:cs typeface="Calibri" pitchFamily="34" charset="-120"/>
              </a:rPr>
              <a:t>A working Solidity contract on Sepolia that mints, sells, and transfers fantasy RPG items.</a:t>
            </a:r>
            <a:endParaRPr lang="en-US" sz="1300" dirty="0"/>
          </a:p>
          <a:p>
            <a:pPr marL="342900" indent="-342900">
              <a:spcAft>
                <a:spcPts val="800"/>
              </a:spcAft>
              <a:buSzPct val="100000"/>
              <a:buChar char="▪"/>
            </a:pPr>
            <a:r>
              <a:rPr lang="en-US" sz="1300" dirty="0">
                <a:solidFill>
                  <a:srgbClr val="A8AEC9"/>
                </a:solidFill>
                <a:latin typeface="Calibri" pitchFamily="34" charset="0"/>
                <a:ea typeface="Calibri" pitchFamily="34" charset="-122"/>
                <a:cs typeface="Calibri" pitchFamily="34" charset="-120"/>
              </a:rPr>
              <a:t>Three production-style game UI mockups (inventory, marketplace, purchase flow) showing how the contract feels in-game.</a:t>
            </a:r>
            <a:endParaRPr lang="en-US" sz="1300" dirty="0"/>
          </a:p>
          <a:p>
            <a:pPr marL="342900" indent="-342900">
              <a:spcAft>
                <a:spcPts val="800"/>
              </a:spcAft>
              <a:buSzPct val="100000"/>
              <a:buChar char="▪"/>
            </a:pPr>
            <a:r>
              <a:rPr lang="en-US" sz="1300" dirty="0">
                <a:solidFill>
                  <a:srgbClr val="A8AEC9"/>
                </a:solidFill>
                <a:latin typeface="Calibri" pitchFamily="34" charset="0"/>
                <a:ea typeface="Calibri" pitchFamily="34" charset="-122"/>
                <a:cs typeface="Calibri" pitchFamily="34" charset="-120"/>
              </a:rPr>
              <a:t>End-to-end demo: admin mints an item, a second account buys it with ETH, ownership and balances update on-chain.</a:t>
            </a:r>
            <a:endParaRPr lang="en-US" sz="1300" dirty="0"/>
          </a:p>
          <a:p>
            <a:pPr marL="342900" indent="-342900">
              <a:spcAft>
                <a:spcPts val="800"/>
              </a:spcAft>
              <a:buSzPct val="100000"/>
              <a:buChar char="▪"/>
            </a:pPr>
            <a:r>
              <a:rPr lang="en-US" sz="1300" dirty="0">
                <a:solidFill>
                  <a:srgbClr val="A8AEC9"/>
                </a:solidFill>
                <a:latin typeface="Calibri" pitchFamily="34" charset="0"/>
                <a:ea typeface="Calibri" pitchFamily="34" charset="-122"/>
                <a:cs typeface="Calibri" pitchFamily="34" charset="-120"/>
              </a:rPr>
              <a:t>Honest scoping: combat stays off-chain, only ownership lives on the ledger.</a:t>
            </a:r>
            <a:endParaRPr lang="en-US" sz="1300" dirty="0"/>
          </a:p>
        </p:txBody>
      </p:sp>
      <p:sp>
        <p:nvSpPr>
          <p:cNvPr id="8" name="Shape 6"/>
          <p:cNvSpPr/>
          <p:nvPr/>
        </p:nvSpPr>
        <p:spPr>
          <a:xfrm>
            <a:off x="7863840" y="2606040"/>
            <a:ext cx="45720" cy="3200400"/>
          </a:xfrm>
          <a:prstGeom prst="rect">
            <a:avLst/>
          </a:prstGeom>
          <a:solidFill>
            <a:srgbClr val="F4A261"/>
          </a:solidFill>
          <a:ln/>
        </p:spPr>
        <p:txBody>
          <a:bodyPr/>
          <a:lstStyle/>
          <a:p>
            <a:endParaRPr lang="tr-TR"/>
          </a:p>
        </p:txBody>
      </p:sp>
      <p:sp>
        <p:nvSpPr>
          <p:cNvPr id="9" name="Text 7"/>
          <p:cNvSpPr/>
          <p:nvPr/>
        </p:nvSpPr>
        <p:spPr>
          <a:xfrm>
            <a:off x="8092440" y="2606040"/>
            <a:ext cx="3657600" cy="3200400"/>
          </a:xfrm>
          <a:prstGeom prst="rect">
            <a:avLst/>
          </a:prstGeom>
          <a:noFill/>
          <a:ln/>
        </p:spPr>
        <p:txBody>
          <a:bodyPr wrap="square" lIns="0" tIns="0" rIns="0" bIns="0" rtlCol="0" anchor="t"/>
          <a:lstStyle/>
          <a:p>
            <a:pPr marL="0" indent="0">
              <a:buNone/>
            </a:pPr>
            <a:r>
              <a:rPr lang="en-US" sz="1300" b="1" kern="0" spc="300" dirty="0">
                <a:solidFill>
                  <a:srgbClr val="F4A261"/>
                </a:solidFill>
                <a:latin typeface="Calibri" pitchFamily="34" charset="0"/>
                <a:ea typeface="Calibri" pitchFamily="34" charset="-122"/>
                <a:cs typeface="Calibri" pitchFamily="34" charset="-120"/>
              </a:rPr>
              <a:t>The takeaway
</a:t>
            </a:r>
            <a:r>
              <a:rPr lang="en-US" sz="600" dirty="0">
                <a:solidFill>
                  <a:srgbClr val="000000"/>
                </a:solidFill>
              </a:rPr>
              <a:t>
</a:t>
            </a:r>
            <a:r>
              <a:rPr lang="en-US" sz="2200" b="1" i="1" dirty="0">
                <a:solidFill>
                  <a:srgbClr val="EDEEF7"/>
                </a:solidFill>
                <a:latin typeface="Georgia" pitchFamily="34" charset="0"/>
                <a:ea typeface="Georgia" pitchFamily="34" charset="-122"/>
                <a:cs typeface="Georgia" pitchFamily="34" charset="-120"/>
              </a:rPr>
              <a:t>Blockchain doesn't replace the game.
</a:t>
            </a:r>
            <a:r>
              <a:rPr lang="en-US" sz="1600" i="1" dirty="0">
                <a:solidFill>
                  <a:srgbClr val="A8AEC9"/>
                </a:solidFill>
                <a:latin typeface="Georgia" pitchFamily="34" charset="0"/>
                <a:ea typeface="Georgia" pitchFamily="34" charset="-122"/>
                <a:cs typeface="Georgia" pitchFamily="34" charset="-120"/>
              </a:rPr>
              <a:t>It replaces the line in a private database that says </a:t>
            </a:r>
            <a:r>
              <a:rPr lang="en-US" sz="1600" b="1" i="1" dirty="0">
                <a:solidFill>
                  <a:srgbClr val="EDEEF7"/>
                </a:solidFill>
                <a:latin typeface="Georgia" pitchFamily="34" charset="0"/>
                <a:ea typeface="Georgia" pitchFamily="34" charset="-122"/>
                <a:cs typeface="Georgia" pitchFamily="34" charset="-120"/>
              </a:rPr>
              <a:t>this item belongs to you</a:t>
            </a:r>
            <a:r>
              <a:rPr lang="en-US" sz="1600" i="1" dirty="0">
                <a:solidFill>
                  <a:srgbClr val="A8AEC9"/>
                </a:solidFill>
                <a:latin typeface="Georgia" pitchFamily="34" charset="0"/>
                <a:ea typeface="Georgia" pitchFamily="34" charset="-122"/>
                <a:cs typeface="Georgia" pitchFamily="34" charset="-120"/>
              </a:rPr>
              <a:t> — with a public ledger that no studio, ban, or shutdown can erase.</a:t>
            </a:r>
            <a:endParaRPr lang="en-US" sz="1300" dirty="0"/>
          </a:p>
        </p:txBody>
      </p:sp>
      <p:sp>
        <p:nvSpPr>
          <p:cNvPr id="10" name="Text 8"/>
          <p:cNvSpPr/>
          <p:nvPr/>
        </p:nvSpPr>
        <p:spPr>
          <a:xfrm>
            <a:off x="822960" y="6080760"/>
            <a:ext cx="10972800" cy="365760"/>
          </a:xfrm>
          <a:prstGeom prst="rect">
            <a:avLst/>
          </a:prstGeom>
          <a:noFill/>
          <a:ln/>
        </p:spPr>
        <p:txBody>
          <a:bodyPr wrap="square" lIns="0" tIns="0" rIns="0" bIns="0" rtlCol="0" anchor="ctr"/>
          <a:lstStyle/>
          <a:p>
            <a:pPr marL="0" indent="0">
              <a:buNone/>
            </a:pPr>
            <a:r>
              <a:rPr lang="en-US" sz="1050" dirty="0">
                <a:solidFill>
                  <a:srgbClr val="6B7295"/>
                </a:solidFill>
                <a:latin typeface="Calibri" pitchFamily="34" charset="0"/>
                <a:ea typeface="Calibri" pitchFamily="34" charset="-122"/>
                <a:cs typeface="Calibri" pitchFamily="34" charset="-120"/>
              </a:rPr>
              <a:t>Repository: </a:t>
            </a:r>
            <a:r>
              <a:rPr lang="en-US" sz="1050" dirty="0">
                <a:solidFill>
                  <a:srgbClr val="8B7CF6"/>
                </a:solidFill>
                <a:latin typeface="Consolas" pitchFamily="34" charset="0"/>
                <a:ea typeface="Consolas" pitchFamily="34" charset="-122"/>
                <a:cs typeface="Consolas" pitchFamily="34" charset="-120"/>
              </a:rPr>
              <a:t>github.com/derinyuksel/etherquest-marketplace</a:t>
            </a:r>
            <a:r>
              <a:rPr lang="en-US" sz="1050" dirty="0">
                <a:solidFill>
                  <a:srgbClr val="6B7295"/>
                </a:solidFill>
                <a:latin typeface="Calibri" pitchFamily="34" charset="0"/>
                <a:ea typeface="Calibri" pitchFamily="34" charset="-122"/>
                <a:cs typeface="Calibri" pitchFamily="34" charset="-120"/>
              </a:rPr>
              <a:t>        Contract (Sepolia): </a:t>
            </a:r>
            <a:r>
              <a:rPr lang="en-US" sz="1050" dirty="0">
                <a:solidFill>
                  <a:srgbClr val="8B7CF6"/>
                </a:solidFill>
                <a:latin typeface="Consolas" pitchFamily="34" charset="0"/>
                <a:ea typeface="Consolas" pitchFamily="34" charset="-122"/>
                <a:cs typeface="Consolas" pitchFamily="34" charset="-120"/>
              </a:rPr>
              <a:t>0xEd3Bbe532A0cca3dfea5e9880EB5586a93190dDa</a:t>
            </a:r>
            <a:endParaRPr lang="en-US" sz="1050" dirty="0"/>
          </a:p>
        </p:txBody>
      </p:sp>
      <p:sp>
        <p:nvSpPr>
          <p:cNvPr id="11" name="Text 9"/>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6B7295"/>
                </a:solidFill>
                <a:latin typeface="Calibri" pitchFamily="34" charset="0"/>
                <a:ea typeface="Calibri" pitchFamily="34" charset="-122"/>
                <a:cs typeface="Calibri" pitchFamily="34" charset="-120"/>
              </a:rPr>
              <a:t>EtherQuest Marketplace</a:t>
            </a:r>
            <a:r>
              <a:rPr lang="en-US" sz="900" dirty="0">
                <a:solidFill>
                  <a:srgbClr val="6B7295"/>
                </a:solidFill>
              </a:rPr>
              <a:t>   |   </a:t>
            </a:r>
            <a:r>
              <a:rPr lang="en-US" sz="900" dirty="0">
                <a:solidFill>
                  <a:srgbClr val="6B7295"/>
                </a:solidFill>
                <a:latin typeface="Consolas" pitchFamily="34" charset="0"/>
                <a:ea typeface="Consolas" pitchFamily="34" charset="-122"/>
                <a:cs typeface="Consolas" pitchFamily="34" charset="-120"/>
              </a:rPr>
              <a:t>Sepolia: 0xEd3B...0dDa</a:t>
            </a:r>
            <a:endParaRPr lang="en-US" sz="900" dirty="0"/>
          </a:p>
        </p:txBody>
      </p:sp>
      <p:sp>
        <p:nvSpPr>
          <p:cNvPr id="12" name="Text 10"/>
          <p:cNvSpPr/>
          <p:nvPr/>
        </p:nvSpPr>
        <p:spPr>
          <a:xfrm>
            <a:off x="11091672" y="6492240"/>
            <a:ext cx="640080" cy="274320"/>
          </a:xfrm>
          <a:prstGeom prst="rect">
            <a:avLst/>
          </a:prstGeom>
          <a:noFill/>
          <a:ln/>
        </p:spPr>
        <p:txBody>
          <a:bodyPr wrap="square" lIns="0" tIns="0" rIns="0" bIns="0" rtlCol="0" anchor="ctr"/>
          <a:lstStyle/>
          <a:p>
            <a:pPr marL="0" indent="0" algn="r">
              <a:buNone/>
            </a:pPr>
            <a:r>
              <a:rPr lang="en-US" sz="900" dirty="0">
                <a:solidFill>
                  <a:srgbClr val="6B7295"/>
                </a:solidFill>
                <a:latin typeface="Calibri" pitchFamily="34" charset="0"/>
                <a:ea typeface="Calibri" pitchFamily="34" charset="-122"/>
                <a:cs typeface="Calibri" pitchFamily="34" charset="-120"/>
              </a:rPr>
              <a:t>9 / 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494</TotalTime>
  <Words>1570</Words>
  <Application>Microsoft Office PowerPoint</Application>
  <PresentationFormat>Geniş ekran</PresentationFormat>
  <Paragraphs>167</Paragraphs>
  <Slides>9</Slides>
  <Notes>9</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9</vt:i4>
      </vt:variant>
    </vt:vector>
  </HeadingPairs>
  <TitlesOfParts>
    <vt:vector size="14" baseType="lpstr">
      <vt:lpstr>Arial</vt:lpstr>
      <vt:lpstr>Calibri</vt:lpstr>
      <vt:lpstr>Consolas</vt:lpstr>
      <vt:lpstr>Georgia</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EtherQuest: Blockchain-Based Item Ownership for Fantasy RPGs</dc:title>
  <dc:subject>PptxGenJS Presentation</dc:subject>
  <dc:creator>Derin Yüksel</dc:creator>
  <cp:lastModifiedBy>Derin Yüksel</cp:lastModifiedBy>
  <cp:revision>4</cp:revision>
  <dcterms:created xsi:type="dcterms:W3CDTF">2026-04-26T18:26:19Z</dcterms:created>
  <dcterms:modified xsi:type="dcterms:W3CDTF">2026-04-27T11:19:11Z</dcterms:modified>
</cp:coreProperties>
</file>